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handoutMasterIdLst>
    <p:handoutMasterId r:id="rId16"/>
  </p:handoutMasterIdLst>
  <p:sldIdLst>
    <p:sldId id="275" r:id="rId2"/>
    <p:sldId id="388" r:id="rId3"/>
    <p:sldId id="390" r:id="rId4"/>
    <p:sldId id="391" r:id="rId5"/>
    <p:sldId id="392" r:id="rId6"/>
    <p:sldId id="393" r:id="rId7"/>
    <p:sldId id="394" r:id="rId8"/>
    <p:sldId id="395" r:id="rId9"/>
    <p:sldId id="396" r:id="rId10"/>
    <p:sldId id="397" r:id="rId11"/>
    <p:sldId id="398" r:id="rId12"/>
    <p:sldId id="399" r:id="rId13"/>
    <p:sldId id="400"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27" autoAdjust="0"/>
    <p:restoredTop sz="94590" autoAdjust="0"/>
  </p:normalViewPr>
  <p:slideViewPr>
    <p:cSldViewPr>
      <p:cViewPr varScale="1">
        <p:scale>
          <a:sx n="74" d="100"/>
          <a:sy n="74" d="100"/>
        </p:scale>
        <p:origin x="1978"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290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overlay val="0"/>
    </c:title>
    <c:autoTitleDeleted val="0"/>
    <c:plotArea>
      <c:layout/>
      <c:doughnutChart>
        <c:varyColors val="1"/>
        <c:ser>
          <c:idx val="0"/>
          <c:order val="0"/>
          <c:tx>
            <c:strRef>
              <c:f>Sheet1!$B$1</c:f>
              <c:strCache>
                <c:ptCount val="1"/>
                <c:pt idx="0">
                  <c:v>Result</c:v>
                </c:pt>
              </c:strCache>
            </c:strRef>
          </c:tx>
          <c:dPt>
            <c:idx val="0"/>
            <c:bubble3D val="0"/>
            <c:spPr>
              <a:solidFill>
                <a:srgbClr val="1D4ED8"/>
              </a:solidFill>
            </c:spPr>
            <c:extLst>
              <c:ext xmlns:c16="http://schemas.microsoft.com/office/drawing/2014/chart" uri="{C3380CC4-5D6E-409C-BE32-E72D297353CC}">
                <c16:uniqueId val="{00000001-891B-41BD-9BDA-45803BBBDE1F}"/>
              </c:ext>
            </c:extLst>
          </c:dPt>
          <c:dPt>
            <c:idx val="1"/>
            <c:bubble3D val="0"/>
            <c:spPr>
              <a:solidFill>
                <a:srgbClr val="DC2626"/>
              </a:solidFill>
            </c:spPr>
            <c:extLst>
              <c:ext xmlns:c16="http://schemas.microsoft.com/office/drawing/2014/chart" uri="{C3380CC4-5D6E-409C-BE32-E72D297353CC}">
                <c16:uniqueId val="{00000003-891B-41BD-9BDA-45803BBBDE1F}"/>
              </c:ext>
            </c:extLst>
          </c:dPt>
          <c:cat>
            <c:strRef>
              <c:f>Sheet1!$A$2:$A$3</c:f>
              <c:strCache>
                <c:ptCount val="2"/>
                <c:pt idx="0">
                  <c:v>Pass</c:v>
                </c:pt>
                <c:pt idx="1">
                  <c:v>Fail</c:v>
                </c:pt>
              </c:strCache>
            </c:strRef>
          </c:cat>
          <c:val>
            <c:numRef>
              <c:f>Sheet1!$B$2:$B$3</c:f>
              <c:numCache>
                <c:formatCode>General</c:formatCode>
                <c:ptCount val="2"/>
                <c:pt idx="0">
                  <c:v>14130</c:v>
                </c:pt>
                <c:pt idx="1">
                  <c:v>1870</c:v>
                </c:pt>
              </c:numCache>
            </c:numRef>
          </c:val>
          <c:extLst>
            <c:ext xmlns:c16="http://schemas.microsoft.com/office/drawing/2014/chart" uri="{C3380CC4-5D6E-409C-BE32-E72D297353CC}">
              <c16:uniqueId val="{00000004-891B-41BD-9BDA-45803BBBDE1F}"/>
            </c:ext>
          </c:extLst>
        </c:ser>
        <c:dLbls>
          <c:showLegendKey val="0"/>
          <c:showVal val="0"/>
          <c:showCatName val="0"/>
          <c:showSerName val="0"/>
          <c:showPercent val="0"/>
          <c:showBubbleSize val="0"/>
          <c:showLeaderLines val="1"/>
        </c:dLbls>
        <c:firstSliceAng val="0"/>
        <c:holeSize val="50"/>
      </c:doughnutChart>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3472FC0-3A6E-4FDF-98C7-05D53ADA3185}" type="datetimeFigureOut">
              <a:rPr lang="en-US" smtClean="0"/>
              <a:pPr/>
              <a:t>9/17/2026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7E15A7B-879F-45B5-9291-0F55AE53DB35}" type="slidenum">
              <a:rPr lang="en-US" smtClean="0"/>
              <a:pPr/>
              <a:t>‹#›</a:t>
            </a:fld>
            <a:endParaRPr lang="en-US"/>
          </a:p>
        </p:txBody>
      </p:sp>
    </p:spTree>
    <p:extLst>
      <p:ext uri="{BB962C8B-B14F-4D97-AF65-F5344CB8AC3E}">
        <p14:creationId xmlns:p14="http://schemas.microsoft.com/office/powerpoint/2010/main" val="23923146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F44B48-72A2-4A15-9A9B-0DA2BF7C6B02}" type="datetimeFigureOut">
              <a:rPr lang="en-US" smtClean="0"/>
              <a:pPr/>
              <a:t>9/17/2026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D238FA3-189B-4AA8-9E46-1FED810FB611}" type="slidenum">
              <a:rPr lang="en-US" smtClean="0"/>
              <a:pPr/>
              <a:t>‹#›</a:t>
            </a:fld>
            <a:endParaRPr lang="en-US"/>
          </a:p>
        </p:txBody>
      </p:sp>
    </p:spTree>
    <p:extLst>
      <p:ext uri="{BB962C8B-B14F-4D97-AF65-F5344CB8AC3E}">
        <p14:creationId xmlns:p14="http://schemas.microsoft.com/office/powerpoint/2010/main" val="798616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238FA3-189B-4AA8-9E46-1FED810FB611}" type="slidenum">
              <a:rPr lang="en-US" smtClean="0"/>
              <a:pPr/>
              <a:t>1</a:t>
            </a:fld>
            <a:endParaRPr lang="en-US"/>
          </a:p>
        </p:txBody>
      </p:sp>
    </p:spTree>
    <p:extLst>
      <p:ext uri="{BB962C8B-B14F-4D97-AF65-F5344CB8AC3E}">
        <p14:creationId xmlns:p14="http://schemas.microsoft.com/office/powerpoint/2010/main" val="27477395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3BD94B3-44B9-44B7-85A7-F056FA607D46}" type="datetime3">
              <a:rPr lang="en-US" smtClean="0"/>
              <a:t>17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969781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7275DB-6D13-480B-AC77-F5019BDC5287}" type="datetime3">
              <a:rPr lang="en-US" smtClean="0"/>
              <a:t>17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383148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2A365F-315E-4D26-B736-3944439F5E09}" type="datetime3">
              <a:rPr lang="en-US" smtClean="0"/>
              <a:t>17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1244091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AB1E7AE-CF1A-4AE7-BD2C-F950D278A3DB}" type="datetime3">
              <a:rPr lang="en-US" smtClean="0"/>
              <a:t>17 September 2026</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017900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C6D51F8-804C-441D-85CA-D64DC6F78406}" type="datetime3">
              <a:rPr lang="en-US" smtClean="0"/>
              <a:t>17 September 2026</a:t>
            </a:fld>
            <a:endParaRPr lang="en-US"/>
          </a:p>
        </p:txBody>
      </p:sp>
      <p:sp>
        <p:nvSpPr>
          <p:cNvPr id="8" name="Footer Placeholder 7"/>
          <p:cNvSpPr>
            <a:spLocks noGrp="1"/>
          </p:cNvSpPr>
          <p:nvPr>
            <p:ph type="ftr" sz="quarter" idx="11"/>
          </p:nvPr>
        </p:nvSpPr>
        <p:spPr/>
        <p:txBody>
          <a:bodyPr/>
          <a:lstStyle/>
          <a:p>
            <a:r>
              <a:rPr lang="en-US"/>
              <a:t>School of Computing - CSE</a:t>
            </a:r>
          </a:p>
        </p:txBody>
      </p:sp>
      <p:sp>
        <p:nvSpPr>
          <p:cNvPr id="9" name="Slide Number Placeholder 8"/>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240346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7CCCDB-4457-4C48-985F-BD1C33DF88D2}" type="datetime3">
              <a:rPr lang="en-US" smtClean="0"/>
              <a:t>17 September 2026</a:t>
            </a:fld>
            <a:endParaRPr lang="en-US"/>
          </a:p>
        </p:txBody>
      </p:sp>
      <p:sp>
        <p:nvSpPr>
          <p:cNvPr id="4" name="Footer Placeholder 3"/>
          <p:cNvSpPr>
            <a:spLocks noGrp="1"/>
          </p:cNvSpPr>
          <p:nvPr>
            <p:ph type="ftr" sz="quarter" idx="11"/>
          </p:nvPr>
        </p:nvSpPr>
        <p:spPr/>
        <p:txBody>
          <a:bodyPr/>
          <a:lstStyle/>
          <a:p>
            <a:r>
              <a:rPr lang="en-US"/>
              <a:t>School of Computing - CSE</a:t>
            </a:r>
          </a:p>
        </p:txBody>
      </p:sp>
      <p:sp>
        <p:nvSpPr>
          <p:cNvPr id="5" name="Slide Number Placeholder 4"/>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788019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F4AF7E-7813-4879-8B55-5575B0080D39}" type="datetime3">
              <a:rPr lang="en-US" smtClean="0"/>
              <a:t>17 September 2026</a:t>
            </a:fld>
            <a:endParaRPr lang="en-US"/>
          </a:p>
        </p:txBody>
      </p:sp>
      <p:sp>
        <p:nvSpPr>
          <p:cNvPr id="3" name="Footer Placeholder 2"/>
          <p:cNvSpPr>
            <a:spLocks noGrp="1"/>
          </p:cNvSpPr>
          <p:nvPr>
            <p:ph type="ftr" sz="quarter" idx="11"/>
          </p:nvPr>
        </p:nvSpPr>
        <p:spPr/>
        <p:txBody>
          <a:bodyPr/>
          <a:lstStyle/>
          <a:p>
            <a:r>
              <a:rPr lang="en-US"/>
              <a:t>School of Computing - CSE</a:t>
            </a:r>
          </a:p>
        </p:txBody>
      </p:sp>
      <p:sp>
        <p:nvSpPr>
          <p:cNvPr id="4" name="Slide Number Placeholder 3"/>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352883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9EC94D0-F97F-48E4-A142-9DA614267486}" type="datetime3">
              <a:rPr lang="en-US" smtClean="0"/>
              <a:t>17 September 2026</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73928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7DA9B2-FBCA-4233-9590-C0754509BDB5}" type="datetime3">
              <a:rPr lang="en-US" smtClean="0"/>
              <a:t>17 September 2026</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452269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B910C5-081D-4FA6-9B78-BB56BEB475DD}" type="datetime3">
              <a:rPr lang="en-US" smtClean="0"/>
              <a:t>17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050042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8360AF-72BE-4445-B200-736511B20555}" type="datetime3">
              <a:rPr lang="en-US" smtClean="0"/>
              <a:t>17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10668611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noFill/>
          <a:ln>
            <a:noFill/>
          </a:ln>
          <a:effectLst>
            <a:outerShdw blurRad="50800" dist="50800" dir="5400000" algn="ctr" rotWithShape="0">
              <a:schemeClr val="bg1"/>
            </a:outerShdw>
          </a:effectLst>
        </p:spPr>
        <p:txBody>
          <a:bodyPr/>
          <a:lstStyle>
            <a:lvl1pPr>
              <a:defRPr>
                <a:solidFill>
                  <a:schemeClr val="accent6">
                    <a:lumMod val="50000"/>
                  </a:schemeClr>
                </a:solidFill>
              </a:defRPr>
            </a:lvl1pPr>
          </a:lstStyle>
          <a:p>
            <a:fld id="{10B6530B-5C68-4965-B8A9-8C18D26903BD}" type="datetime3">
              <a:rPr lang="en-US" smtClean="0"/>
              <a:t>17 September 2026</a:t>
            </a:fld>
            <a:endParaRPr lang="en-US" dirty="0"/>
          </a:p>
        </p:txBody>
      </p:sp>
      <p:sp>
        <p:nvSpPr>
          <p:cNvPr id="5" name="Footer Placeholder 4"/>
          <p:cNvSpPr>
            <a:spLocks noGrp="1"/>
          </p:cNvSpPr>
          <p:nvPr>
            <p:ph type="ftr" sz="quarter" idx="11"/>
          </p:nvPr>
        </p:nvSpPr>
        <p:spPr/>
        <p:txBody>
          <a:bodyPr/>
          <a:lstStyle>
            <a:lvl1pPr>
              <a:defRPr>
                <a:solidFill>
                  <a:schemeClr val="accent6">
                    <a:lumMod val="50000"/>
                  </a:schemeClr>
                </a:solidFill>
              </a:defRPr>
            </a:lvl1pPr>
          </a:lstStyle>
          <a:p>
            <a:r>
              <a:rPr lang="en-US"/>
              <a:t>School of Computing - CSE</a:t>
            </a:r>
            <a:endParaRPr lang="en-US" dirty="0"/>
          </a:p>
        </p:txBody>
      </p:sp>
      <p:sp>
        <p:nvSpPr>
          <p:cNvPr id="6" name="Slide Number Placeholder 5"/>
          <p:cNvSpPr>
            <a:spLocks noGrp="1"/>
          </p:cNvSpPr>
          <p:nvPr>
            <p:ph type="sldNum" sz="quarter" idx="12"/>
          </p:nvPr>
        </p:nvSpPr>
        <p:spPr/>
        <p:txBody>
          <a:bodyPr/>
          <a:lstStyle>
            <a:lvl1pPr>
              <a:defRPr>
                <a:solidFill>
                  <a:schemeClr val="accent6">
                    <a:lumMod val="50000"/>
                  </a:schemeClr>
                </a:solidFill>
              </a:defRPr>
            </a:lvl1pPr>
          </a:lstStyle>
          <a:p>
            <a:fld id="{C0EC1BDC-9B67-430D-970A-E36C75175141}"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8940" y="228600"/>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4D4881-3C1B-4E10-8E47-87CE42F43D14}" type="datetime3">
              <a:rPr lang="en-US" smtClean="0"/>
              <a:t>17 September 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School of Computing - CSE</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28076C-CE04-4A00-BFAA-A90EA8355859}" type="slidenum">
              <a:rPr lang="en-US" smtClean="0"/>
              <a:pPr/>
              <a:t>‹#›</a:t>
            </a:fld>
            <a:endParaRPr lang="en-US"/>
          </a:p>
        </p:txBody>
      </p:sp>
      <p:sp>
        <p:nvSpPr>
          <p:cNvPr id="8" name="Rectangle 7"/>
          <p:cNvSpPr/>
          <p:nvPr userDrawn="1"/>
        </p:nvSpPr>
        <p:spPr>
          <a:xfrm>
            <a:off x="298940" y="177143"/>
            <a:ext cx="8610600" cy="6553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p:cNvCxnSpPr/>
          <p:nvPr userDrawn="1"/>
        </p:nvCxnSpPr>
        <p:spPr>
          <a:xfrm>
            <a:off x="298940" y="1219200"/>
            <a:ext cx="8610600" cy="1588"/>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23151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50"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a:spLocks noGrp="1"/>
          </p:cNvSpPr>
          <p:nvPr>
            <p:ph type="ctrTitle"/>
          </p:nvPr>
        </p:nvSpPr>
        <p:spPr>
          <a:xfrm>
            <a:off x="571500" y="449944"/>
            <a:ext cx="7772400" cy="3505199"/>
          </a:xfrm>
        </p:spPr>
        <p:txBody>
          <a:bodyPr>
            <a:normAutofit/>
          </a:bodyPr>
          <a:lstStyle/>
          <a:p>
            <a:br>
              <a:rPr lang="en-IN" sz="2000" dirty="0">
                <a:solidFill>
                  <a:schemeClr val="accent1">
                    <a:lumMod val="50000"/>
                  </a:schemeClr>
                </a:solidFill>
                <a:latin typeface="Arial" pitchFamily="34" charset="0"/>
                <a:cs typeface="Arial" pitchFamily="34" charset="0"/>
              </a:rPr>
            </a:br>
            <a:br>
              <a:rPr lang="en-IN" sz="2400" dirty="0">
                <a:solidFill>
                  <a:schemeClr val="accent1">
                    <a:lumMod val="50000"/>
                  </a:schemeClr>
                </a:solidFill>
                <a:latin typeface="Arial" pitchFamily="34" charset="0"/>
                <a:cs typeface="Arial" pitchFamily="34" charset="0"/>
              </a:rPr>
            </a:br>
            <a:endParaRPr lang="en-US" sz="2400" dirty="0">
              <a:solidFill>
                <a:schemeClr val="accent1">
                  <a:lumMod val="50000"/>
                </a:schemeClr>
              </a:solidFill>
              <a:latin typeface="Arial" pitchFamily="34" charset="0"/>
              <a:cs typeface="Arial" pitchFamily="34" charset="0"/>
            </a:endParaRPr>
          </a:p>
        </p:txBody>
      </p:sp>
      <p:sp>
        <p:nvSpPr>
          <p:cNvPr id="17" name="Subtitle 2"/>
          <p:cNvSpPr>
            <a:spLocks noGrp="1"/>
          </p:cNvSpPr>
          <p:nvPr>
            <p:ph type="subTitle" idx="1"/>
          </p:nvPr>
        </p:nvSpPr>
        <p:spPr>
          <a:xfrm>
            <a:off x="1293627" y="3534191"/>
            <a:ext cx="6709143" cy="885409"/>
          </a:xfrm>
        </p:spPr>
        <p:txBody>
          <a:bodyPr>
            <a:normAutofit fontScale="92500" lnSpcReduction="20000"/>
          </a:bodyPr>
          <a:lstStyle/>
          <a:p>
            <a:pPr algn="ctr"/>
            <a:r>
              <a:rPr sz="3000" b="1" dirty="0">
                <a:solidFill>
                  <a:srgbClr val="006080"/>
                </a:solidFill>
                <a:latin typeface="Arial"/>
              </a:rPr>
              <a:t>UNIVERSITY ACADEMIC</a:t>
            </a:r>
            <a:endParaRPr lang="en-US" sz="5700" dirty="0">
              <a:solidFill>
                <a:srgbClr val="7030A0"/>
              </a:solidFill>
              <a:latin typeface="Arial" pitchFamily="34" charset="0"/>
              <a:cs typeface="Arial" pitchFamily="34" charset="0"/>
            </a:endParaRPr>
          </a:p>
          <a:p>
            <a:pPr algn="ctr"/>
            <a:r>
              <a:rPr sz="3000" b="1" dirty="0">
                <a:solidFill>
                  <a:srgbClr val="006080"/>
                </a:solidFill>
                <a:latin typeface="Arial"/>
              </a:rPr>
              <a:t>PERFORMANCE ANALYTICS</a:t>
            </a:r>
          </a:p>
        </p:txBody>
      </p:sp>
      <p:sp>
        <p:nvSpPr>
          <p:cNvPr id="4" name="Date Placeholder 3"/>
          <p:cNvSpPr>
            <a:spLocks noGrp="1"/>
          </p:cNvSpPr>
          <p:nvPr>
            <p:ph type="dt" sz="half" idx="10"/>
          </p:nvPr>
        </p:nvSpPr>
        <p:spPr>
          <a:effectLst>
            <a:outerShdw blurRad="50800" dist="50800" dir="5400000" algn="ctr" rotWithShape="0">
              <a:schemeClr val="bg1"/>
            </a:outerShdw>
          </a:effectLst>
        </p:spPr>
        <p:txBody>
          <a:bodyPr/>
          <a:lstStyle/>
          <a:p>
            <a:pPr algn="l"/>
            <a:r>
              <a:rPr sz="1000">
                <a:solidFill>
                  <a:srgbClr val="808080"/>
                </a:solidFill>
                <a:latin typeface="Arial"/>
              </a:rPr>
              <a:t>14 September 2026</a:t>
            </a:r>
            <a:endParaRPr lang="en-US" dirty="0"/>
          </a:p>
        </p:txBody>
      </p:sp>
      <p:sp>
        <p:nvSpPr>
          <p:cNvPr id="6" name="Footer Placeholder 5"/>
          <p:cNvSpPr>
            <a:spLocks noGrp="1"/>
          </p:cNvSpPr>
          <p:nvPr>
            <p:ph type="ftr" sz="quarter" idx="11"/>
          </p:nvPr>
        </p:nvSpPr>
        <p:spPr/>
        <p:txBody>
          <a:bodyPr/>
          <a:lstStyle/>
          <a:p>
            <a:pPr algn="ctr"/>
            <a:r>
              <a:rPr sz="1000">
                <a:solidFill>
                  <a:srgbClr val="808080"/>
                </a:solidFill>
                <a:latin typeface="Arial"/>
              </a:rPr>
              <a:t>School of Computing - CSE</a:t>
            </a:r>
          </a:p>
        </p:txBody>
      </p:sp>
      <p:sp>
        <p:nvSpPr>
          <p:cNvPr id="5" name="Slide Number Placeholder 4"/>
          <p:cNvSpPr>
            <a:spLocks noGrp="1"/>
          </p:cNvSpPr>
          <p:nvPr>
            <p:ph type="sldNum" sz="quarter" idx="12"/>
          </p:nvPr>
        </p:nvSpPr>
        <p:spPr/>
        <p:txBody>
          <a:bodyPr/>
          <a:lstStyle/>
          <a:p>
            <a:pPr algn="r"/>
            <a:r>
              <a:rPr sz="1000">
                <a:solidFill>
                  <a:srgbClr val="808080"/>
                </a:solidFill>
                <a:latin typeface="Arial"/>
              </a:rPr>
              <a:t>1</a:t>
            </a:r>
            <a:endParaRPr lang="en-US"/>
          </a:p>
        </p:txBody>
      </p:sp>
      <p:sp>
        <p:nvSpPr>
          <p:cNvPr id="14" name="TextBox 13">
            <a:extLst>
              <a:ext uri="{FF2B5EF4-FFF2-40B4-BE49-F238E27FC236}">
                <a16:creationId xmlns:a16="http://schemas.microsoft.com/office/drawing/2014/main" id="{41C8031F-DC64-6DA7-5E1D-856D8119A1D3}"/>
              </a:ext>
            </a:extLst>
          </p:cNvPr>
          <p:cNvSpPr txBox="1"/>
          <p:nvPr/>
        </p:nvSpPr>
        <p:spPr>
          <a:xfrm>
            <a:off x="342898" y="2245640"/>
            <a:ext cx="8610599" cy="1292662"/>
          </a:xfrm>
          <a:prstGeom prst="rect">
            <a:avLst/>
          </a:prstGeom>
          <a:noFill/>
        </p:spPr>
        <p:txBody>
          <a:bodyPr wrap="square">
            <a:spAutoFit/>
          </a:bodyPr>
          <a:lstStyle/>
          <a:p>
            <a:pPr algn="ctr"/>
            <a:r>
              <a:rPr sz="2000" b="1">
                <a:solidFill>
                  <a:srgbClr val="000000"/>
                </a:solidFill>
                <a:latin typeface="Arial"/>
              </a:rPr>
              <a:t>DEPARTMENT OF COMPUTER SCIENCE AND ENGINEERING</a:t>
            </a:r>
            <a:endParaRPr lang="en-IN" sz="2000" b="1" dirty="0">
              <a:latin typeface="Arial" panose="020B0604020202020204" pitchFamily="34" charset="0"/>
              <a:cs typeface="Arial" panose="020B0604020202020204" pitchFamily="34" charset="0"/>
            </a:endParaRPr>
          </a:p>
          <a:p>
            <a:pPr algn="ctr"/>
            <a:endParaRPr lang="en-IN" sz="2000" b="1" dirty="0">
              <a:latin typeface="Arial" panose="020B0604020202020204" pitchFamily="34" charset="0"/>
              <a:cs typeface="Arial" panose="020B0604020202020204" pitchFamily="34" charset="0"/>
            </a:endParaRPr>
          </a:p>
          <a:p>
            <a:pPr algn="ctr"/>
            <a:r>
              <a:rPr sz="2000" b="1">
                <a:solidFill>
                  <a:srgbClr val="000000"/>
                </a:solidFill>
                <a:latin typeface="Arial"/>
              </a:rPr>
              <a:t>Professional Training I</a:t>
            </a:r>
          </a:p>
        </p:txBody>
      </p:sp>
      <p:sp>
        <p:nvSpPr>
          <p:cNvPr id="29" name="Subtitle 2">
            <a:extLst>
              <a:ext uri="{FF2B5EF4-FFF2-40B4-BE49-F238E27FC236}">
                <a16:creationId xmlns:a16="http://schemas.microsoft.com/office/drawing/2014/main" id="{431E86DB-7CEA-B3DC-1DF2-33457A550B1A}"/>
              </a:ext>
            </a:extLst>
          </p:cNvPr>
          <p:cNvSpPr txBox="1">
            <a:spLocks/>
          </p:cNvSpPr>
          <p:nvPr/>
        </p:nvSpPr>
        <p:spPr>
          <a:xfrm>
            <a:off x="457200" y="4901084"/>
            <a:ext cx="8381999" cy="1487883"/>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sz="1800" b="1" dirty="0">
                <a:solidFill>
                  <a:srgbClr val="000000"/>
                </a:solidFill>
                <a:latin typeface="Arial"/>
              </a:rPr>
              <a:t>PROJECT STUDENTS                                                  GUI</a:t>
            </a:r>
            <a:r>
              <a:rPr lang="en-IN" sz="1800" b="1" dirty="0">
                <a:solidFill>
                  <a:srgbClr val="000000"/>
                </a:solidFill>
                <a:latin typeface="Arial"/>
              </a:rPr>
              <a:t>DE</a:t>
            </a:r>
          </a:p>
          <a:p>
            <a:pPr algn="l"/>
            <a:r>
              <a:rPr lang="en-IN" sz="1800" b="1" dirty="0">
                <a:solidFill>
                  <a:srgbClr val="000000"/>
                </a:solidFill>
                <a:latin typeface="Arial"/>
              </a:rPr>
              <a:t>Rakshana Fathima M, 44110995                           Ms. </a:t>
            </a:r>
            <a:r>
              <a:rPr lang="en-IN" sz="1800" b="1" dirty="0" err="1">
                <a:solidFill>
                  <a:srgbClr val="000000"/>
                </a:solidFill>
                <a:latin typeface="Arial"/>
              </a:rPr>
              <a:t>Revathi.K</a:t>
            </a:r>
            <a:endParaRPr lang="en-IN" sz="1800" b="1" dirty="0">
              <a:solidFill>
                <a:srgbClr val="000000"/>
              </a:solidFill>
              <a:latin typeface="Arial"/>
            </a:endParaRPr>
          </a:p>
          <a:p>
            <a:pPr algn="l"/>
            <a:r>
              <a:rPr sz="1800" b="1" dirty="0">
                <a:solidFill>
                  <a:srgbClr val="000000"/>
                </a:solidFill>
                <a:latin typeface="Arial"/>
              </a:rPr>
              <a:t>Vijaya Vignesh S, 44111024                         </a:t>
            </a:r>
            <a:r>
              <a:rPr lang="en-IN" sz="1800" b="1" dirty="0">
                <a:solidFill>
                  <a:srgbClr val="000000"/>
                </a:solidFill>
                <a:latin typeface="Arial"/>
              </a:rPr>
              <a:t>         </a:t>
            </a:r>
            <a:r>
              <a:rPr sz="1800" b="1" dirty="0">
                <a:solidFill>
                  <a:srgbClr val="000000"/>
                </a:solidFill>
                <a:latin typeface="Arial"/>
              </a:rPr>
              <a:t>Dr. V. </a:t>
            </a:r>
            <a:r>
              <a:rPr sz="1800" b="1" dirty="0" err="1">
                <a:solidFill>
                  <a:srgbClr val="000000"/>
                </a:solidFill>
                <a:latin typeface="Arial"/>
              </a:rPr>
              <a:t>Ulagamuthalvi</a:t>
            </a:r>
            <a:endParaRPr sz="1800" b="1" dirty="0">
              <a:solidFill>
                <a:srgbClr val="000000"/>
              </a:solidFill>
              <a:latin typeface="Arial"/>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6352" y="319093"/>
            <a:ext cx="8496301" cy="204310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AGENDA</a:t>
            </a:r>
          </a:p>
        </p:txBody>
      </p:sp>
      <p:sp>
        <p:nvSpPr>
          <p:cNvPr id="3" name="Content Placeholder 2"/>
          <p:cNvSpPr>
            <a:spLocks noGrp="1"/>
          </p:cNvSpPr>
          <p:nvPr>
            <p:ph idx="1"/>
          </p:nvPr>
        </p:nvSpPr>
        <p:spPr>
          <a:xfrm>
            <a:off x="457200" y="1600993"/>
            <a:ext cx="8229600" cy="4525963"/>
          </a:xfrm>
        </p:spPr>
        <p:txBody>
          <a:bodyPr lIns="45720" rIns="45720" anchor="t">
            <a:normAutofit fontScale="92500" lnSpcReduction="20000"/>
          </a:bodyPr>
          <a:lstStyle/>
          <a:p>
            <a:pPr algn="l">
              <a:spcAft>
                <a:spcPts val="800"/>
              </a:spcAft>
            </a:pPr>
            <a:r>
              <a:rPr sz="2700">
                <a:solidFill>
                  <a:srgbClr val="000000"/>
                </a:solidFill>
                <a:latin typeface="Arial"/>
              </a:rPr>
              <a:t>Certificate</a:t>
            </a:r>
          </a:p>
          <a:p>
            <a:pPr algn="l">
              <a:spcAft>
                <a:spcPts val="800"/>
              </a:spcAft>
            </a:pPr>
            <a:r>
              <a:rPr sz="2700">
                <a:solidFill>
                  <a:srgbClr val="000000"/>
                </a:solidFill>
                <a:latin typeface="Arial"/>
              </a:rPr>
              <a:t>Abstract</a:t>
            </a:r>
          </a:p>
          <a:p>
            <a:pPr algn="l">
              <a:spcAft>
                <a:spcPts val="800"/>
              </a:spcAft>
            </a:pPr>
            <a:r>
              <a:rPr sz="2700">
                <a:solidFill>
                  <a:srgbClr val="000000"/>
                </a:solidFill>
                <a:latin typeface="Arial"/>
              </a:rPr>
              <a:t>Introduction</a:t>
            </a:r>
          </a:p>
          <a:p>
            <a:pPr algn="l">
              <a:spcAft>
                <a:spcPts val="800"/>
              </a:spcAft>
            </a:pPr>
            <a:r>
              <a:rPr sz="2700">
                <a:solidFill>
                  <a:srgbClr val="000000"/>
                </a:solidFill>
                <a:latin typeface="Arial"/>
              </a:rPr>
              <a:t>Objective</a:t>
            </a:r>
          </a:p>
          <a:p>
            <a:pPr algn="l">
              <a:spcAft>
                <a:spcPts val="800"/>
              </a:spcAft>
            </a:pPr>
            <a:r>
              <a:rPr sz="2700">
                <a:solidFill>
                  <a:srgbClr val="000000"/>
                </a:solidFill>
                <a:latin typeface="Arial"/>
              </a:rPr>
              <a:t>System Architecture / Ideation Map</a:t>
            </a:r>
          </a:p>
          <a:p>
            <a:pPr algn="l">
              <a:spcAft>
                <a:spcPts val="800"/>
              </a:spcAft>
            </a:pPr>
            <a:r>
              <a:rPr sz="2700">
                <a:solidFill>
                  <a:srgbClr val="000000"/>
                </a:solidFill>
                <a:latin typeface="Arial"/>
              </a:rPr>
              <a:t>Module Implementation</a:t>
            </a:r>
          </a:p>
          <a:p>
            <a:pPr algn="l">
              <a:spcAft>
                <a:spcPts val="800"/>
              </a:spcAft>
            </a:pPr>
            <a:r>
              <a:rPr sz="2700">
                <a:solidFill>
                  <a:srgbClr val="000000"/>
                </a:solidFill>
                <a:latin typeface="Arial"/>
              </a:rPr>
              <a:t>Results and Discussions</a:t>
            </a:r>
          </a:p>
          <a:p>
            <a:pPr algn="l">
              <a:spcAft>
                <a:spcPts val="800"/>
              </a:spcAft>
            </a:pPr>
            <a:r>
              <a:rPr sz="2700">
                <a:solidFill>
                  <a:srgbClr val="000000"/>
                </a:solidFill>
                <a:latin typeface="Arial"/>
              </a:rPr>
              <a:t>Conclusion</a:t>
            </a:r>
          </a:p>
          <a:p>
            <a:pPr algn="l">
              <a:spcAft>
                <a:spcPts val="800"/>
              </a:spcAft>
            </a:pPr>
            <a:r>
              <a:rPr sz="2700">
                <a:solidFill>
                  <a:srgbClr val="000000"/>
                </a:solidFill>
                <a:latin typeface="Arial"/>
              </a:rPr>
              <a:t>References</a:t>
            </a:r>
          </a:p>
        </p:txBody>
      </p:sp>
      <p:sp>
        <p:nvSpPr>
          <p:cNvPr id="4" name="Date Placeholder 3"/>
          <p:cNvSpPr>
            <a:spLocks noGrp="1"/>
          </p:cNvSpPr>
          <p:nvPr>
            <p:ph type="dt" sz="half" idx="10"/>
          </p:nvPr>
        </p:nvSpPr>
        <p:spPr/>
        <p:txBody>
          <a:bodyPr/>
          <a:lstStyle/>
          <a:p>
            <a:pPr algn="l"/>
            <a:r>
              <a:rPr sz="1000">
                <a:solidFill>
                  <a:srgbClr val="808080"/>
                </a:solidFill>
                <a:latin typeface="Arial"/>
              </a:rPr>
              <a:t>14 September 2026</a:t>
            </a:r>
            <a:endParaRPr lang="en-US"/>
          </a:p>
        </p:txBody>
      </p:sp>
      <p:sp>
        <p:nvSpPr>
          <p:cNvPr id="5" name="Footer Placeholder 4"/>
          <p:cNvSpPr>
            <a:spLocks noGrp="1"/>
          </p:cNvSpPr>
          <p:nvPr>
            <p:ph type="ftr" sz="quarter" idx="11"/>
          </p:nvPr>
        </p:nvSpPr>
        <p:spPr/>
        <p:txBody>
          <a:bodyPr/>
          <a:lstStyle/>
          <a:p>
            <a:pPr algn="ctr"/>
            <a:r>
              <a:rPr sz="1000">
                <a:solidFill>
                  <a:srgbClr val="808080"/>
                </a:solidFill>
                <a:latin typeface="Arial"/>
              </a:rPr>
              <a:t>School of Computing - CSE</a:t>
            </a:r>
          </a:p>
        </p:txBody>
      </p:sp>
      <p:sp>
        <p:nvSpPr>
          <p:cNvPr id="6" name="Slide Number Placeholder 5"/>
          <p:cNvSpPr>
            <a:spLocks noGrp="1"/>
          </p:cNvSpPr>
          <p:nvPr>
            <p:ph type="sldNum" sz="quarter" idx="12"/>
          </p:nvPr>
        </p:nvSpPr>
        <p:spPr/>
        <p:txBody>
          <a:bodyPr/>
          <a:lstStyle/>
          <a:p>
            <a:pPr algn="r"/>
            <a:r>
              <a:rPr sz="1000">
                <a:solidFill>
                  <a:srgbClr val="808080"/>
                </a:solidFill>
                <a:latin typeface="Arial"/>
              </a:rPr>
              <a:t>2</a:t>
            </a:r>
            <a:endParaRPr lang="en-US"/>
          </a:p>
        </p:txBody>
      </p:sp>
    </p:spTree>
    <p:extLst>
      <p:ext uri="{BB962C8B-B14F-4D97-AF65-F5344CB8AC3E}">
        <p14:creationId xmlns:p14="http://schemas.microsoft.com/office/powerpoint/2010/main" val="34408998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59F68-BEA2-7D83-83CC-DB2FA3DB80A7}"/>
              </a:ext>
            </a:extLst>
          </p:cNvPr>
          <p:cNvSpPr>
            <a:spLocks noGrp="1"/>
          </p:cNvSpPr>
          <p:nvPr>
            <p:ph type="title"/>
          </p:nvPr>
        </p:nvSpPr>
        <p:spPr/>
        <p:txBody>
          <a:bodyPr>
            <a:normAutofit/>
          </a:bodyPr>
          <a:lstStyle/>
          <a:p>
            <a:pPr algn="ctr"/>
            <a:r>
              <a:rPr sz="3400">
                <a:solidFill>
                  <a:srgbClr val="000000"/>
                </a:solidFill>
                <a:latin typeface="Arial"/>
              </a:rPr>
              <a:t>COURSE CERTIFICATE - 1</a:t>
            </a:r>
          </a:p>
        </p:txBody>
      </p:sp>
      <p:sp>
        <p:nvSpPr>
          <p:cNvPr id="5" name="Footer Placeholder 4">
            <a:extLst>
              <a:ext uri="{FF2B5EF4-FFF2-40B4-BE49-F238E27FC236}">
                <a16:creationId xmlns:a16="http://schemas.microsoft.com/office/drawing/2014/main" id="{397B7C33-DB32-8A92-0FB9-94A237F8119B}"/>
              </a:ext>
            </a:extLst>
          </p:cNvPr>
          <p:cNvSpPr>
            <a:spLocks noGrp="1"/>
          </p:cNvSpPr>
          <p:nvPr>
            <p:ph type="ftr" sz="quarter" idx="11"/>
          </p:nvPr>
        </p:nvSpPr>
        <p:spPr/>
        <p:txBody>
          <a:bodyPr/>
          <a:lstStyle/>
          <a:p>
            <a:pPr algn="ctr"/>
            <a:r>
              <a:rPr sz="1000">
                <a:solidFill>
                  <a:srgbClr val="808080"/>
                </a:solidFill>
                <a:latin typeface="Arial"/>
              </a:rPr>
              <a:t>School of Computing - CSE</a:t>
            </a:r>
            <a:endParaRPr lang="en-US" dirty="0"/>
          </a:p>
        </p:txBody>
      </p:sp>
      <p:sp>
        <p:nvSpPr>
          <p:cNvPr id="6" name="Slide Number Placeholder 5">
            <a:extLst>
              <a:ext uri="{FF2B5EF4-FFF2-40B4-BE49-F238E27FC236}">
                <a16:creationId xmlns:a16="http://schemas.microsoft.com/office/drawing/2014/main" id="{BACB38E7-C314-D639-6C8E-0B5C6D5174D1}"/>
              </a:ext>
            </a:extLst>
          </p:cNvPr>
          <p:cNvSpPr>
            <a:spLocks noGrp="1"/>
          </p:cNvSpPr>
          <p:nvPr>
            <p:ph type="sldNum" sz="quarter" idx="12"/>
          </p:nvPr>
        </p:nvSpPr>
        <p:spPr/>
        <p:txBody>
          <a:bodyPr/>
          <a:lstStyle/>
          <a:p>
            <a:pPr algn="r"/>
            <a:r>
              <a:rPr sz="1000">
                <a:solidFill>
                  <a:srgbClr val="808080"/>
                </a:solidFill>
                <a:latin typeface="Arial"/>
              </a:rPr>
              <a:t>3</a:t>
            </a:r>
            <a:endParaRPr lang="en-US" dirty="0"/>
          </a:p>
        </p:txBody>
      </p:sp>
      <p:sp>
        <p:nvSpPr>
          <p:cNvPr id="4" name="Content Placeholder 3"/>
          <p:cNvSpPr>
            <a:spLocks noGrp="1"/>
          </p:cNvSpPr>
          <p:nvPr>
            <p:ph idx="1"/>
          </p:nvPr>
        </p:nvSpPr>
        <p:spPr/>
        <p:txBody>
          <a:bodyPr/>
          <a:lstStyle/>
          <a:p>
            <a:pPr marL="0" indent="0">
              <a:buNone/>
            </a:pPr>
            <a:endParaRPr lang="en-US" dirty="0"/>
          </a:p>
          <a:p>
            <a:pPr marL="0" indent="0">
              <a:buNone/>
            </a:pPr>
            <a:endParaRPr lang="en-US" dirty="0"/>
          </a:p>
        </p:txBody>
      </p:sp>
    </p:spTree>
    <p:extLst>
      <p:ext uri="{BB962C8B-B14F-4D97-AF65-F5344CB8AC3E}">
        <p14:creationId xmlns:p14="http://schemas.microsoft.com/office/powerpoint/2010/main" val="4270359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59F68-BEA2-7D83-83CC-DB2FA3DB80A7}"/>
              </a:ext>
            </a:extLst>
          </p:cNvPr>
          <p:cNvSpPr>
            <a:spLocks noGrp="1"/>
          </p:cNvSpPr>
          <p:nvPr>
            <p:ph type="title"/>
          </p:nvPr>
        </p:nvSpPr>
        <p:spPr/>
        <p:txBody>
          <a:bodyPr>
            <a:normAutofit/>
          </a:bodyPr>
          <a:lstStyle/>
          <a:p>
            <a:pPr algn="ctr"/>
            <a:r>
              <a:rPr sz="3400">
                <a:solidFill>
                  <a:srgbClr val="000000"/>
                </a:solidFill>
                <a:latin typeface="Arial"/>
              </a:rPr>
              <a:t>COURSE CERTIFICATE - 2</a:t>
            </a:r>
          </a:p>
        </p:txBody>
      </p:sp>
      <p:sp>
        <p:nvSpPr>
          <p:cNvPr id="5" name="Footer Placeholder 4">
            <a:extLst>
              <a:ext uri="{FF2B5EF4-FFF2-40B4-BE49-F238E27FC236}">
                <a16:creationId xmlns:a16="http://schemas.microsoft.com/office/drawing/2014/main" id="{397B7C33-DB32-8A92-0FB9-94A237F8119B}"/>
              </a:ext>
            </a:extLst>
          </p:cNvPr>
          <p:cNvSpPr>
            <a:spLocks noGrp="1"/>
          </p:cNvSpPr>
          <p:nvPr>
            <p:ph type="ftr" sz="quarter" idx="11"/>
          </p:nvPr>
        </p:nvSpPr>
        <p:spPr/>
        <p:txBody>
          <a:bodyPr/>
          <a:lstStyle/>
          <a:p>
            <a:pPr algn="ctr"/>
            <a:r>
              <a:rPr sz="1000">
                <a:solidFill>
                  <a:srgbClr val="808080"/>
                </a:solidFill>
                <a:latin typeface="Arial"/>
              </a:rPr>
              <a:t>School of Computing - CSE</a:t>
            </a:r>
            <a:endParaRPr lang="en-US" dirty="0"/>
          </a:p>
        </p:txBody>
      </p:sp>
      <p:sp>
        <p:nvSpPr>
          <p:cNvPr id="6" name="Slide Number Placeholder 5">
            <a:extLst>
              <a:ext uri="{FF2B5EF4-FFF2-40B4-BE49-F238E27FC236}">
                <a16:creationId xmlns:a16="http://schemas.microsoft.com/office/drawing/2014/main" id="{BACB38E7-C314-D639-6C8E-0B5C6D5174D1}"/>
              </a:ext>
            </a:extLst>
          </p:cNvPr>
          <p:cNvSpPr>
            <a:spLocks noGrp="1"/>
          </p:cNvSpPr>
          <p:nvPr>
            <p:ph type="sldNum" sz="quarter" idx="12"/>
          </p:nvPr>
        </p:nvSpPr>
        <p:spPr/>
        <p:txBody>
          <a:bodyPr/>
          <a:lstStyle/>
          <a:p>
            <a:pPr algn="r"/>
            <a:r>
              <a:rPr sz="1000">
                <a:solidFill>
                  <a:srgbClr val="808080"/>
                </a:solidFill>
                <a:latin typeface="Arial"/>
              </a:rPr>
              <a:t>4</a:t>
            </a:r>
            <a:endParaRPr lang="en-US" dirty="0"/>
          </a:p>
        </p:txBody>
      </p:sp>
      <p:sp>
        <p:nvSpPr>
          <p:cNvPr id="4" name="Content Placeholder 3"/>
          <p:cNvSpPr>
            <a:spLocks noGrp="1"/>
          </p:cNvSpPr>
          <p:nvPr>
            <p:ph idx="1"/>
          </p:nvPr>
        </p:nvSpPr>
        <p:spPr/>
        <p:txBody>
          <a:bodyPr/>
          <a:lstStyle/>
          <a:p>
            <a:pPr marL="0" indent="0">
              <a:buNone/>
            </a:pPr>
            <a:endParaRPr lang="en-US" dirty="0"/>
          </a:p>
          <a:p>
            <a:pPr marL="0" indent="0">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59F68-BEA2-7D83-83CC-DB2FA3DB80A7}"/>
              </a:ext>
            </a:extLst>
          </p:cNvPr>
          <p:cNvSpPr>
            <a:spLocks noGrp="1"/>
          </p:cNvSpPr>
          <p:nvPr>
            <p:ph type="title"/>
          </p:nvPr>
        </p:nvSpPr>
        <p:spPr/>
        <p:txBody>
          <a:bodyPr>
            <a:normAutofit/>
          </a:bodyPr>
          <a:lstStyle/>
          <a:p>
            <a:pPr algn="ctr"/>
            <a:r>
              <a:rPr sz="3400">
                <a:solidFill>
                  <a:srgbClr val="000000"/>
                </a:solidFill>
                <a:latin typeface="Calibri"/>
              </a:rPr>
              <a:t>ABSTRACT</a:t>
            </a:r>
          </a:p>
        </p:txBody>
      </p:sp>
      <p:sp>
        <p:nvSpPr>
          <p:cNvPr id="5" name="Footer Placeholder 4">
            <a:extLst>
              <a:ext uri="{FF2B5EF4-FFF2-40B4-BE49-F238E27FC236}">
                <a16:creationId xmlns:a16="http://schemas.microsoft.com/office/drawing/2014/main" id="{397B7C33-DB32-8A92-0FB9-94A237F8119B}"/>
              </a:ext>
            </a:extLst>
          </p:cNvPr>
          <p:cNvSpPr>
            <a:spLocks noGrp="1"/>
          </p:cNvSpPr>
          <p:nvPr>
            <p:ph type="ftr" sz="quarter" idx="11"/>
          </p:nvPr>
        </p:nvSpPr>
        <p:spPr/>
        <p:txBody>
          <a:bodyPr/>
          <a:lstStyle/>
          <a:p>
            <a:pPr algn="ctr"/>
            <a:r>
              <a:rPr sz="1000">
                <a:solidFill>
                  <a:srgbClr val="808080"/>
                </a:solidFill>
                <a:latin typeface="Arial"/>
              </a:rPr>
              <a:t>School of Computing - CSE</a:t>
            </a:r>
            <a:endParaRPr lang="en-US" dirty="0"/>
          </a:p>
        </p:txBody>
      </p:sp>
      <p:sp>
        <p:nvSpPr>
          <p:cNvPr id="6" name="Slide Number Placeholder 5">
            <a:extLst>
              <a:ext uri="{FF2B5EF4-FFF2-40B4-BE49-F238E27FC236}">
                <a16:creationId xmlns:a16="http://schemas.microsoft.com/office/drawing/2014/main" id="{BACB38E7-C314-D639-6C8E-0B5C6D5174D1}"/>
              </a:ext>
            </a:extLst>
          </p:cNvPr>
          <p:cNvSpPr>
            <a:spLocks noGrp="1"/>
          </p:cNvSpPr>
          <p:nvPr>
            <p:ph type="sldNum" sz="quarter" idx="12"/>
          </p:nvPr>
        </p:nvSpPr>
        <p:spPr/>
        <p:txBody>
          <a:bodyPr/>
          <a:lstStyle/>
          <a:p>
            <a:pPr algn="r"/>
            <a:r>
              <a:rPr sz="1000">
                <a:solidFill>
                  <a:srgbClr val="808080"/>
                </a:solidFill>
                <a:latin typeface="Arial"/>
              </a:rPr>
              <a:t>5</a:t>
            </a:r>
            <a:endParaRPr lang="en-US" dirty="0"/>
          </a:p>
        </p:txBody>
      </p:sp>
      <p:sp>
        <p:nvSpPr>
          <p:cNvPr id="4" name="Content Placeholder 3"/>
          <p:cNvSpPr>
            <a:spLocks noGrp="1"/>
          </p:cNvSpPr>
          <p:nvPr>
            <p:ph idx="1"/>
          </p:nvPr>
        </p:nvSpPr>
        <p:spPr>
          <a:xfrm>
            <a:off x="502920" y="1889760"/>
            <a:ext cx="8183880" cy="4358640"/>
          </a:xfrm>
        </p:spPr>
        <p:txBody>
          <a:bodyPr lIns="45720" rIns="45720" anchor="t">
            <a:normAutofit/>
          </a:bodyPr>
          <a:lstStyle/>
          <a:p>
            <a:pPr marL="0" indent="0" algn="just">
              <a:spcAft>
                <a:spcPts val="800"/>
              </a:spcAft>
              <a:buNone/>
            </a:pPr>
            <a:r>
              <a:rPr lang="en-US" sz="2000" dirty="0">
                <a:solidFill>
                  <a:srgbClr val="000000"/>
                </a:solidFill>
                <a:latin typeface="Arial"/>
              </a:rPr>
              <a:t>This project focuses on analyzing student marks, attendance, department performance, pass percentage, average score, and top performers.</a:t>
            </a:r>
            <a:r>
              <a:rPr lang="en-US" sz="2000" dirty="0"/>
              <a:t> </a:t>
            </a:r>
            <a:r>
              <a:rPr lang="en-US" sz="2000" dirty="0">
                <a:solidFill>
                  <a:srgbClr val="000000"/>
                </a:solidFill>
                <a:latin typeface="Arial"/>
              </a:rPr>
              <a:t>A synthetic and anonymized academic dataset was prepared for 500 engineering students across five departments and eight semesters. Python was used for data generation, cleaning, exploratory analysis, feature engineering, statistical analysis, and validation. SQL was used to create a relational database, verify relationships, and perform analytical queries. Power BI was used to design an interactive academic performance dashboard for clear visualization and decision support.</a:t>
            </a:r>
          </a:p>
        </p:txBody>
      </p:sp>
      <p:sp>
        <p:nvSpPr>
          <p:cNvPr id="3" name="TextBox 2">
            <a:extLst>
              <a:ext uri="{FF2B5EF4-FFF2-40B4-BE49-F238E27FC236}">
                <a16:creationId xmlns:a16="http://schemas.microsoft.com/office/drawing/2014/main" id="{ADB415CE-B950-90A3-DEAC-D1CF4EF002D5}"/>
              </a:ext>
            </a:extLst>
          </p:cNvPr>
          <p:cNvSpPr txBox="1"/>
          <p:nvPr/>
        </p:nvSpPr>
        <p:spPr>
          <a:xfrm>
            <a:off x="5319252" y="1799303"/>
            <a:ext cx="184731" cy="369332"/>
          </a:xfrm>
          <a:prstGeom prst="rect">
            <a:avLst/>
          </a:prstGeom>
          <a:noFill/>
        </p:spPr>
        <p:txBody>
          <a:bodyPr wrap="none" rtlCol="0">
            <a:spAutoFit/>
          </a:bodyPr>
          <a:lstStyle/>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59F68-BEA2-7D83-83CC-DB2FA3DB80A7}"/>
              </a:ext>
            </a:extLst>
          </p:cNvPr>
          <p:cNvSpPr>
            <a:spLocks noGrp="1"/>
          </p:cNvSpPr>
          <p:nvPr>
            <p:ph type="title"/>
          </p:nvPr>
        </p:nvSpPr>
        <p:spPr/>
        <p:txBody>
          <a:bodyPr>
            <a:normAutofit/>
          </a:bodyPr>
          <a:lstStyle/>
          <a:p>
            <a:pPr algn="ctr"/>
            <a:r>
              <a:rPr sz="3400">
                <a:solidFill>
                  <a:srgbClr val="000000"/>
                </a:solidFill>
                <a:latin typeface="Calibri"/>
              </a:rPr>
              <a:t>INTRODUCTION</a:t>
            </a:r>
          </a:p>
        </p:txBody>
      </p:sp>
      <p:sp>
        <p:nvSpPr>
          <p:cNvPr id="5" name="Footer Placeholder 4">
            <a:extLst>
              <a:ext uri="{FF2B5EF4-FFF2-40B4-BE49-F238E27FC236}">
                <a16:creationId xmlns:a16="http://schemas.microsoft.com/office/drawing/2014/main" id="{397B7C33-DB32-8A92-0FB9-94A237F8119B}"/>
              </a:ext>
            </a:extLst>
          </p:cNvPr>
          <p:cNvSpPr>
            <a:spLocks noGrp="1"/>
          </p:cNvSpPr>
          <p:nvPr>
            <p:ph type="ftr" sz="quarter" idx="11"/>
          </p:nvPr>
        </p:nvSpPr>
        <p:spPr/>
        <p:txBody>
          <a:bodyPr/>
          <a:lstStyle/>
          <a:p>
            <a:pPr algn="ctr"/>
            <a:r>
              <a:rPr sz="1000">
                <a:solidFill>
                  <a:srgbClr val="808080"/>
                </a:solidFill>
                <a:latin typeface="Arial"/>
              </a:rPr>
              <a:t>School of Computing - CSE</a:t>
            </a:r>
            <a:endParaRPr lang="en-US" dirty="0"/>
          </a:p>
        </p:txBody>
      </p:sp>
      <p:sp>
        <p:nvSpPr>
          <p:cNvPr id="6" name="Slide Number Placeholder 5">
            <a:extLst>
              <a:ext uri="{FF2B5EF4-FFF2-40B4-BE49-F238E27FC236}">
                <a16:creationId xmlns:a16="http://schemas.microsoft.com/office/drawing/2014/main" id="{BACB38E7-C314-D639-6C8E-0B5C6D5174D1}"/>
              </a:ext>
            </a:extLst>
          </p:cNvPr>
          <p:cNvSpPr>
            <a:spLocks noGrp="1"/>
          </p:cNvSpPr>
          <p:nvPr>
            <p:ph type="sldNum" sz="quarter" idx="12"/>
          </p:nvPr>
        </p:nvSpPr>
        <p:spPr/>
        <p:txBody>
          <a:bodyPr/>
          <a:lstStyle/>
          <a:p>
            <a:pPr algn="r"/>
            <a:r>
              <a:rPr sz="1000">
                <a:solidFill>
                  <a:srgbClr val="808080"/>
                </a:solidFill>
                <a:latin typeface="Arial"/>
              </a:rPr>
              <a:t>6</a:t>
            </a:r>
            <a:endParaRPr lang="en-US" dirty="0"/>
          </a:p>
        </p:txBody>
      </p:sp>
      <p:sp>
        <p:nvSpPr>
          <p:cNvPr id="4" name="Content Placeholder 3"/>
          <p:cNvSpPr>
            <a:spLocks noGrp="1"/>
          </p:cNvSpPr>
          <p:nvPr>
            <p:ph idx="1"/>
          </p:nvPr>
        </p:nvSpPr>
        <p:spPr>
          <a:xfrm>
            <a:off x="502920" y="1508760"/>
            <a:ext cx="4709160" cy="4114800"/>
          </a:xfrm>
        </p:spPr>
        <p:txBody>
          <a:bodyPr lIns="45720" rIns="45720" anchor="t">
            <a:normAutofit/>
          </a:bodyPr>
          <a:lstStyle/>
          <a:p>
            <a:pPr algn="l">
              <a:buChar char="•"/>
              <a:defRPr sz="1700">
                <a:solidFill>
                  <a:srgbClr val="000000"/>
                </a:solidFill>
                <a:latin typeface="Calibri"/>
              </a:defRPr>
            </a:pPr>
            <a:r>
              <a:rPr sz="2000" dirty="0"/>
              <a:t>Academic institutions generate marks, attendance and semester records every term.</a:t>
            </a:r>
            <a:endParaRPr lang="en-US" sz="2000" dirty="0"/>
          </a:p>
          <a:p>
            <a:pPr>
              <a:buChar char="•"/>
              <a:defRPr sz="1700">
                <a:solidFill>
                  <a:srgbClr val="000000"/>
                </a:solidFill>
                <a:latin typeface="Calibri"/>
              </a:defRPr>
            </a:pPr>
            <a:r>
              <a:rPr sz="2000" dirty="0"/>
              <a:t>Manual review makes it difficult to identify trends, backlogs and top performers quickly.</a:t>
            </a:r>
          </a:p>
          <a:p>
            <a:pPr>
              <a:buChar char="•"/>
              <a:defRPr sz="1700">
                <a:solidFill>
                  <a:srgbClr val="000000"/>
                </a:solidFill>
                <a:latin typeface="Calibri"/>
              </a:defRPr>
            </a:pPr>
            <a:r>
              <a:rPr sz="2000" dirty="0"/>
              <a:t>This project converts raw academic records into structured analytical insights.</a:t>
            </a:r>
          </a:p>
          <a:p>
            <a:pPr>
              <a:buChar char="•"/>
              <a:defRPr sz="1700">
                <a:solidFill>
                  <a:srgbClr val="000000"/>
                </a:solidFill>
                <a:latin typeface="Calibri"/>
              </a:defRPr>
            </a:pPr>
            <a:r>
              <a:rPr sz="2000" dirty="0"/>
              <a:t>The final dashboard helps faculty monitor performance across students, subjects and departments.</a:t>
            </a:r>
          </a:p>
        </p:txBody>
      </p:sp>
      <p:sp>
        <p:nvSpPr>
          <p:cNvPr id="7" name="Rounded Rectangle 6"/>
          <p:cNvSpPr/>
          <p:nvPr/>
        </p:nvSpPr>
        <p:spPr>
          <a:xfrm>
            <a:off x="5532120" y="1600200"/>
            <a:ext cx="2560320" cy="548640"/>
          </a:xfrm>
          <a:prstGeom prst="roundRect">
            <a:avLst/>
          </a:prstGeom>
          <a:solidFill>
            <a:srgbClr val="DBEA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172A"/>
                </a:solidFill>
                <a:latin typeface="Calibri"/>
              </a:defRPr>
            </a:pPr>
            <a:r>
              <a:t>Student Academic Data</a:t>
            </a:r>
          </a:p>
        </p:txBody>
      </p:sp>
      <p:sp>
        <p:nvSpPr>
          <p:cNvPr id="8" name="Rounded Rectangle 7"/>
          <p:cNvSpPr/>
          <p:nvPr/>
        </p:nvSpPr>
        <p:spPr>
          <a:xfrm>
            <a:off x="5532120" y="2514600"/>
            <a:ext cx="2560320" cy="548640"/>
          </a:xfrm>
          <a:prstGeom prst="roundRect">
            <a:avLst/>
          </a:prstGeom>
          <a:solidFill>
            <a:srgbClr val="FEF3C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172A"/>
                </a:solidFill>
                <a:latin typeface="Calibri"/>
              </a:defRPr>
            </a:pPr>
            <a:r>
              <a:t>Data Analytics Process</a:t>
            </a:r>
          </a:p>
        </p:txBody>
      </p:sp>
      <p:sp>
        <p:nvSpPr>
          <p:cNvPr id="9" name="Rounded Rectangle 8"/>
          <p:cNvSpPr/>
          <p:nvPr/>
        </p:nvSpPr>
        <p:spPr>
          <a:xfrm>
            <a:off x="5532120" y="3429000"/>
            <a:ext cx="2560320" cy="548640"/>
          </a:xfrm>
          <a:prstGeom prst="roundRect">
            <a:avLst/>
          </a:prstGeom>
          <a:solidFill>
            <a:srgbClr val="DCFCE7"/>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172A"/>
                </a:solidFill>
                <a:latin typeface="Calibri"/>
              </a:defRPr>
            </a:pPr>
            <a:r>
              <a:t>Power BI Dashboard</a:t>
            </a:r>
          </a:p>
        </p:txBody>
      </p:sp>
      <p:sp>
        <p:nvSpPr>
          <p:cNvPr id="10" name="Rounded Rectangle 9"/>
          <p:cNvSpPr/>
          <p:nvPr/>
        </p:nvSpPr>
        <p:spPr>
          <a:xfrm>
            <a:off x="5532120" y="4343400"/>
            <a:ext cx="2560320" cy="548640"/>
          </a:xfrm>
          <a:prstGeom prst="roundRect">
            <a:avLst/>
          </a:prstGeom>
          <a:solidFill>
            <a:srgbClr val="E0F2FE"/>
          </a:solidFill>
          <a:ln w="19050">
            <a:solidFill>
              <a:srgbClr val="0F767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172A"/>
                </a:solidFill>
                <a:latin typeface="Calibri"/>
              </a:defRPr>
            </a:pPr>
            <a:r>
              <a:t>Actionable Insights</a:t>
            </a:r>
          </a:p>
        </p:txBody>
      </p:sp>
      <p:cxnSp>
        <p:nvCxnSpPr>
          <p:cNvPr id="11" name="Connector 10"/>
          <p:cNvCxnSpPr/>
          <p:nvPr/>
        </p:nvCxnSpPr>
        <p:spPr>
          <a:xfrm>
            <a:off x="6812280" y="2148840"/>
            <a:ext cx="0" cy="320040"/>
          </a:xfrm>
          <a:prstGeom prst="line">
            <a:avLst/>
          </a:prstGeom>
          <a:ln w="2540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812280" y="3063240"/>
            <a:ext cx="0" cy="32004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812280" y="3977639"/>
            <a:ext cx="0" cy="320040"/>
          </a:xfrm>
          <a:prstGeom prst="line">
            <a:avLst/>
          </a:prstGeom>
          <a:ln w="25400">
            <a:solidFill>
              <a:srgbClr val="16A34A"/>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59F68-BEA2-7D83-83CC-DB2FA3DB80A7}"/>
              </a:ext>
            </a:extLst>
          </p:cNvPr>
          <p:cNvSpPr>
            <a:spLocks noGrp="1"/>
          </p:cNvSpPr>
          <p:nvPr>
            <p:ph type="title"/>
          </p:nvPr>
        </p:nvSpPr>
        <p:spPr/>
        <p:txBody>
          <a:bodyPr>
            <a:normAutofit/>
          </a:bodyPr>
          <a:lstStyle/>
          <a:p>
            <a:pPr algn="ctr"/>
            <a:r>
              <a:rPr sz="3400">
                <a:solidFill>
                  <a:srgbClr val="000000"/>
                </a:solidFill>
                <a:latin typeface="Calibri"/>
              </a:rPr>
              <a:t>OBJECTIVE</a:t>
            </a:r>
          </a:p>
        </p:txBody>
      </p:sp>
      <p:sp>
        <p:nvSpPr>
          <p:cNvPr id="5" name="Footer Placeholder 4">
            <a:extLst>
              <a:ext uri="{FF2B5EF4-FFF2-40B4-BE49-F238E27FC236}">
                <a16:creationId xmlns:a16="http://schemas.microsoft.com/office/drawing/2014/main" id="{397B7C33-DB32-8A92-0FB9-94A237F8119B}"/>
              </a:ext>
            </a:extLst>
          </p:cNvPr>
          <p:cNvSpPr>
            <a:spLocks noGrp="1"/>
          </p:cNvSpPr>
          <p:nvPr>
            <p:ph type="ftr" sz="quarter" idx="11"/>
          </p:nvPr>
        </p:nvSpPr>
        <p:spPr/>
        <p:txBody>
          <a:bodyPr/>
          <a:lstStyle/>
          <a:p>
            <a:pPr algn="ctr"/>
            <a:r>
              <a:rPr sz="1000">
                <a:solidFill>
                  <a:srgbClr val="808080"/>
                </a:solidFill>
                <a:latin typeface="Arial"/>
              </a:rPr>
              <a:t>School of Computing - CSE</a:t>
            </a:r>
            <a:endParaRPr lang="en-US" dirty="0"/>
          </a:p>
        </p:txBody>
      </p:sp>
      <p:sp>
        <p:nvSpPr>
          <p:cNvPr id="6" name="Slide Number Placeholder 5">
            <a:extLst>
              <a:ext uri="{FF2B5EF4-FFF2-40B4-BE49-F238E27FC236}">
                <a16:creationId xmlns:a16="http://schemas.microsoft.com/office/drawing/2014/main" id="{BACB38E7-C314-D639-6C8E-0B5C6D5174D1}"/>
              </a:ext>
            </a:extLst>
          </p:cNvPr>
          <p:cNvSpPr>
            <a:spLocks noGrp="1"/>
          </p:cNvSpPr>
          <p:nvPr>
            <p:ph type="sldNum" sz="quarter" idx="12"/>
          </p:nvPr>
        </p:nvSpPr>
        <p:spPr/>
        <p:txBody>
          <a:bodyPr/>
          <a:lstStyle/>
          <a:p>
            <a:pPr algn="r"/>
            <a:r>
              <a:rPr sz="1000">
                <a:solidFill>
                  <a:srgbClr val="808080"/>
                </a:solidFill>
                <a:latin typeface="Arial"/>
              </a:rPr>
              <a:t>7</a:t>
            </a:r>
            <a:endParaRPr lang="en-US" dirty="0"/>
          </a:p>
        </p:txBody>
      </p:sp>
      <p:sp>
        <p:nvSpPr>
          <p:cNvPr id="4" name="Content Placeholder 3"/>
          <p:cNvSpPr>
            <a:spLocks noGrp="1"/>
          </p:cNvSpPr>
          <p:nvPr>
            <p:ph idx="1"/>
          </p:nvPr>
        </p:nvSpPr>
        <p:spPr>
          <a:xfrm>
            <a:off x="502920" y="1463040"/>
            <a:ext cx="3840480" cy="4480560"/>
          </a:xfrm>
        </p:spPr>
        <p:txBody>
          <a:bodyPr lIns="45720" rIns="45720" anchor="t">
            <a:normAutofit/>
          </a:bodyPr>
          <a:lstStyle/>
          <a:p>
            <a:pPr>
              <a:buChar char="•"/>
              <a:defRPr sz="1600">
                <a:solidFill>
                  <a:srgbClr val="000000"/>
                </a:solidFill>
                <a:latin typeface="Calibri"/>
              </a:defRPr>
            </a:pPr>
            <a:r>
              <a:rPr sz="2200" dirty="0"/>
              <a:t>Build a professional academic analytics solution using Python, SQL and Power BI.</a:t>
            </a:r>
            <a:endParaRPr lang="en-US" sz="2200" dirty="0"/>
          </a:p>
          <a:p>
            <a:pPr>
              <a:buChar char="•"/>
              <a:defRPr sz="1600">
                <a:solidFill>
                  <a:srgbClr val="000000"/>
                </a:solidFill>
                <a:latin typeface="Calibri"/>
              </a:defRPr>
            </a:pPr>
            <a:r>
              <a:rPr sz="2200" dirty="0"/>
              <a:t>Compute KPIs such as Pass %, Average Score, Attendance, CGPA and Backlogs.</a:t>
            </a:r>
          </a:p>
          <a:p>
            <a:pPr>
              <a:buChar char="•"/>
              <a:defRPr sz="1600">
                <a:solidFill>
                  <a:srgbClr val="000000"/>
                </a:solidFill>
                <a:latin typeface="Calibri"/>
              </a:defRPr>
            </a:pPr>
            <a:r>
              <a:rPr sz="2200" dirty="0"/>
              <a:t>Compare student, subject, semester and department performance.</a:t>
            </a:r>
          </a:p>
          <a:p>
            <a:pPr>
              <a:buChar char="•"/>
              <a:defRPr sz="1600">
                <a:solidFill>
                  <a:srgbClr val="000000"/>
                </a:solidFill>
                <a:latin typeface="Calibri"/>
              </a:defRPr>
            </a:pPr>
            <a:r>
              <a:rPr sz="2200" dirty="0"/>
              <a:t>Identify top performers and create an interactive dashboard.</a:t>
            </a:r>
          </a:p>
        </p:txBody>
      </p:sp>
      <p:sp>
        <p:nvSpPr>
          <p:cNvPr id="7" name="TextBox 6"/>
          <p:cNvSpPr txBox="1"/>
          <p:nvPr/>
        </p:nvSpPr>
        <p:spPr>
          <a:xfrm>
            <a:off x="4800600" y="1508760"/>
            <a:ext cx="3200400" cy="320040"/>
          </a:xfrm>
          <a:prstGeom prst="rect">
            <a:avLst/>
          </a:prstGeom>
          <a:noFill/>
        </p:spPr>
        <p:txBody>
          <a:bodyPr wrap="none" anchor="ctr">
            <a:spAutoFit/>
          </a:bodyPr>
          <a:lstStyle/>
          <a:p>
            <a:pPr algn="ctr">
              <a:defRPr sz="1600" b="1">
                <a:solidFill>
                  <a:srgbClr val="0F172A"/>
                </a:solidFill>
                <a:latin typeface="Calibri"/>
              </a:defRPr>
            </a:pPr>
            <a:r>
              <a:t>Key Objectives</a:t>
            </a:r>
          </a:p>
        </p:txBody>
      </p:sp>
      <p:sp>
        <p:nvSpPr>
          <p:cNvPr id="8" name="Rounded Rectangle 7"/>
          <p:cNvSpPr/>
          <p:nvPr/>
        </p:nvSpPr>
        <p:spPr>
          <a:xfrm>
            <a:off x="4709160" y="2057400"/>
            <a:ext cx="1508760" cy="822960"/>
          </a:xfrm>
          <a:prstGeom prst="roundRect">
            <a:avLst/>
          </a:prstGeom>
          <a:solidFill>
            <a:srgbClr val="F8FAFC"/>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172A"/>
                </a:solidFill>
                <a:latin typeface="Calibri"/>
              </a:defRPr>
            </a:pPr>
            <a:r>
              <a:t>Marks</a:t>
            </a:r>
            <a:br/>
            <a:r>
              <a:t>Analysis</a:t>
            </a:r>
          </a:p>
        </p:txBody>
      </p:sp>
      <p:sp>
        <p:nvSpPr>
          <p:cNvPr id="9" name="Rounded Rectangle 8"/>
          <p:cNvSpPr/>
          <p:nvPr/>
        </p:nvSpPr>
        <p:spPr>
          <a:xfrm>
            <a:off x="6492240" y="2057400"/>
            <a:ext cx="1508760" cy="822960"/>
          </a:xfrm>
          <a:prstGeom prst="roundRect">
            <a:avLst/>
          </a:prstGeom>
          <a:solidFill>
            <a:srgbClr val="F8FAFC"/>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172A"/>
                </a:solidFill>
                <a:latin typeface="Calibri"/>
              </a:defRPr>
            </a:pPr>
            <a:r>
              <a:t>Attendance</a:t>
            </a:r>
            <a:br/>
            <a:r>
              <a:t>Insights</a:t>
            </a:r>
          </a:p>
        </p:txBody>
      </p:sp>
      <p:sp>
        <p:nvSpPr>
          <p:cNvPr id="10" name="Rounded Rectangle 9"/>
          <p:cNvSpPr/>
          <p:nvPr/>
        </p:nvSpPr>
        <p:spPr>
          <a:xfrm>
            <a:off x="4709160" y="3429000"/>
            <a:ext cx="1508760" cy="822960"/>
          </a:xfrm>
          <a:prstGeom prst="roundRect">
            <a:avLst/>
          </a:prstGeom>
          <a:solidFill>
            <a:srgbClr val="F8FAFC"/>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172A"/>
                </a:solidFill>
                <a:latin typeface="Calibri"/>
              </a:defRPr>
            </a:pPr>
            <a:r>
              <a:t>Department</a:t>
            </a:r>
            <a:br/>
            <a:r>
              <a:t>Comparison</a:t>
            </a:r>
          </a:p>
        </p:txBody>
      </p:sp>
      <p:sp>
        <p:nvSpPr>
          <p:cNvPr id="11" name="Rounded Rectangle 10"/>
          <p:cNvSpPr/>
          <p:nvPr/>
        </p:nvSpPr>
        <p:spPr>
          <a:xfrm>
            <a:off x="6492240" y="3429000"/>
            <a:ext cx="1508760" cy="822960"/>
          </a:xfrm>
          <a:prstGeom prst="roundRect">
            <a:avLst/>
          </a:prstGeom>
          <a:solidFill>
            <a:srgbClr val="F8FAFC"/>
          </a:solidFill>
          <a:ln w="19050">
            <a:solidFill>
              <a:srgbClr val="0F767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172A"/>
                </a:solidFill>
                <a:latin typeface="Calibri"/>
              </a:defRPr>
            </a:pPr>
            <a:r>
              <a:t>Top</a:t>
            </a:r>
            <a:br/>
            <a:r>
              <a:t>Performers</a:t>
            </a:r>
          </a:p>
        </p:txBody>
      </p:sp>
      <p:sp>
        <p:nvSpPr>
          <p:cNvPr id="12" name="Rounded Rectangle 11"/>
          <p:cNvSpPr/>
          <p:nvPr/>
        </p:nvSpPr>
        <p:spPr>
          <a:xfrm>
            <a:off x="5623560" y="4754880"/>
            <a:ext cx="1463040" cy="502920"/>
          </a:xfrm>
          <a:prstGeom prst="roundRect">
            <a:avLst/>
          </a:prstGeom>
          <a:solidFill>
            <a:srgbClr val="DBEA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172A"/>
                </a:solidFill>
                <a:latin typeface="Calibri"/>
              </a:defRPr>
            </a:pPr>
            <a:r>
              <a:t>Decision</a:t>
            </a:r>
            <a:br/>
            <a:r>
              <a:t>Support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59F68-BEA2-7D83-83CC-DB2FA3DB80A7}"/>
              </a:ext>
            </a:extLst>
          </p:cNvPr>
          <p:cNvSpPr>
            <a:spLocks noGrp="1"/>
          </p:cNvSpPr>
          <p:nvPr>
            <p:ph type="title"/>
          </p:nvPr>
        </p:nvSpPr>
        <p:spPr/>
        <p:txBody>
          <a:bodyPr>
            <a:normAutofit/>
          </a:bodyPr>
          <a:lstStyle/>
          <a:p>
            <a:pPr algn="ctr"/>
            <a:r>
              <a:rPr sz="3400">
                <a:solidFill>
                  <a:srgbClr val="000000"/>
                </a:solidFill>
                <a:latin typeface="Calibri"/>
              </a:rPr>
              <a:t>SYSTEM ARCHITECTURE / IDEATION MAP</a:t>
            </a:r>
          </a:p>
        </p:txBody>
      </p:sp>
      <p:sp>
        <p:nvSpPr>
          <p:cNvPr id="5" name="Footer Placeholder 4">
            <a:extLst>
              <a:ext uri="{FF2B5EF4-FFF2-40B4-BE49-F238E27FC236}">
                <a16:creationId xmlns:a16="http://schemas.microsoft.com/office/drawing/2014/main" id="{397B7C33-DB32-8A92-0FB9-94A237F8119B}"/>
              </a:ext>
            </a:extLst>
          </p:cNvPr>
          <p:cNvSpPr>
            <a:spLocks noGrp="1"/>
          </p:cNvSpPr>
          <p:nvPr>
            <p:ph type="ftr" sz="quarter" idx="11"/>
          </p:nvPr>
        </p:nvSpPr>
        <p:spPr/>
        <p:txBody>
          <a:bodyPr/>
          <a:lstStyle/>
          <a:p>
            <a:pPr algn="ctr"/>
            <a:r>
              <a:rPr sz="1000">
                <a:solidFill>
                  <a:srgbClr val="808080"/>
                </a:solidFill>
                <a:latin typeface="Arial"/>
              </a:rPr>
              <a:t>School of Computing - CSE</a:t>
            </a:r>
            <a:endParaRPr lang="en-US" dirty="0"/>
          </a:p>
        </p:txBody>
      </p:sp>
      <p:sp>
        <p:nvSpPr>
          <p:cNvPr id="6" name="Slide Number Placeholder 5">
            <a:extLst>
              <a:ext uri="{FF2B5EF4-FFF2-40B4-BE49-F238E27FC236}">
                <a16:creationId xmlns:a16="http://schemas.microsoft.com/office/drawing/2014/main" id="{BACB38E7-C314-D639-6C8E-0B5C6D5174D1}"/>
              </a:ext>
            </a:extLst>
          </p:cNvPr>
          <p:cNvSpPr>
            <a:spLocks noGrp="1"/>
          </p:cNvSpPr>
          <p:nvPr>
            <p:ph type="sldNum" sz="quarter" idx="12"/>
          </p:nvPr>
        </p:nvSpPr>
        <p:spPr/>
        <p:txBody>
          <a:bodyPr/>
          <a:lstStyle/>
          <a:p>
            <a:pPr algn="r"/>
            <a:r>
              <a:rPr sz="1000">
                <a:solidFill>
                  <a:srgbClr val="808080"/>
                </a:solidFill>
                <a:latin typeface="Arial"/>
              </a:rPr>
              <a:t>8</a:t>
            </a:r>
            <a:endParaRPr lang="en-US" dirty="0"/>
          </a:p>
        </p:txBody>
      </p:sp>
      <p:sp>
        <p:nvSpPr>
          <p:cNvPr id="4" name="Content Placeholder 3"/>
          <p:cNvSpPr>
            <a:spLocks noGrp="1"/>
          </p:cNvSpPr>
          <p:nvPr>
            <p:ph idx="1"/>
          </p:nvPr>
        </p:nvSpPr>
        <p:spPr>
          <a:xfrm>
            <a:off x="411480" y="1417320"/>
            <a:ext cx="8321040" cy="4709160"/>
          </a:xfrm>
        </p:spPr>
        <p:txBody>
          <a:bodyPr lIns="45720" rIns="45720" anchor="t"/>
          <a:lstStyle/>
          <a:p>
            <a:pPr marL="0" indent="0" algn="just">
              <a:spcAft>
                <a:spcPts val="800"/>
              </a:spcAft>
              <a:buNone/>
            </a:pPr>
            <a:r>
              <a:rPr lang="en-US" sz="2400" dirty="0"/>
              <a:t>The architecture connects data preparation, analysis, SQL validation and dashboard visualization in one workflow.</a:t>
            </a:r>
          </a:p>
          <a:p>
            <a:pPr algn="l">
              <a:spcAft>
                <a:spcPts val="800"/>
              </a:spcAft>
            </a:pPr>
            <a:endParaRPr lang="en-US" dirty="0"/>
          </a:p>
        </p:txBody>
      </p:sp>
      <p:sp>
        <p:nvSpPr>
          <p:cNvPr id="7" name="Rounded Rectangle 6"/>
          <p:cNvSpPr/>
          <p:nvPr/>
        </p:nvSpPr>
        <p:spPr>
          <a:xfrm>
            <a:off x="381000" y="2514600"/>
            <a:ext cx="1234440" cy="713232"/>
          </a:xfrm>
          <a:prstGeom prst="roundRect">
            <a:avLst/>
          </a:prstGeom>
          <a:solidFill>
            <a:srgbClr val="F8FAFC"/>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F172A"/>
                </a:solidFill>
                <a:latin typeface="Calibri"/>
              </a:defRPr>
            </a:pPr>
            <a:r>
              <a:t>Excel</a:t>
            </a:r>
            <a:br/>
            <a:r>
              <a:t>Dataset</a:t>
            </a:r>
          </a:p>
        </p:txBody>
      </p:sp>
      <p:cxnSp>
        <p:nvCxnSpPr>
          <p:cNvPr id="8" name="Connector 7"/>
          <p:cNvCxnSpPr/>
          <p:nvPr/>
        </p:nvCxnSpPr>
        <p:spPr>
          <a:xfrm>
            <a:off x="1600200" y="2871216"/>
            <a:ext cx="210312" cy="0"/>
          </a:xfrm>
          <a:prstGeom prst="line">
            <a:avLst/>
          </a:prstGeom>
          <a:ln w="25400">
            <a:solidFill>
              <a:srgbClr val="1D4ED8"/>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828800" y="2514600"/>
            <a:ext cx="1234440" cy="713232"/>
          </a:xfrm>
          <a:prstGeom prst="roundRect">
            <a:avLst/>
          </a:prstGeom>
          <a:solidFill>
            <a:srgbClr val="F8FAFC"/>
          </a:solidFill>
          <a:ln w="19050">
            <a:solidFill>
              <a:srgbClr val="0F767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F172A"/>
                </a:solidFill>
                <a:latin typeface="Calibri"/>
              </a:defRPr>
            </a:pPr>
            <a:r>
              <a:t>Python</a:t>
            </a:r>
            <a:br/>
            <a:r>
              <a:t>Cleaning</a:t>
            </a:r>
          </a:p>
        </p:txBody>
      </p:sp>
      <p:cxnSp>
        <p:nvCxnSpPr>
          <p:cNvPr id="10" name="Connector 9"/>
          <p:cNvCxnSpPr/>
          <p:nvPr/>
        </p:nvCxnSpPr>
        <p:spPr>
          <a:xfrm>
            <a:off x="3048000" y="2871216"/>
            <a:ext cx="210312" cy="0"/>
          </a:xfrm>
          <a:prstGeom prst="line">
            <a:avLst/>
          </a:prstGeom>
          <a:ln w="25400">
            <a:solidFill>
              <a:srgbClr val="0F7678"/>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276600" y="2514600"/>
            <a:ext cx="1234440" cy="713232"/>
          </a:xfrm>
          <a:prstGeom prst="roundRect">
            <a:avLst/>
          </a:prstGeom>
          <a:solidFill>
            <a:srgbClr val="F8FAFC"/>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F172A"/>
                </a:solidFill>
                <a:latin typeface="Calibri"/>
              </a:defRPr>
            </a:pPr>
            <a:r>
              <a:t>EDA +</a:t>
            </a:r>
            <a:br/>
            <a:r>
              <a:t>Statistics</a:t>
            </a:r>
          </a:p>
        </p:txBody>
      </p:sp>
      <p:cxnSp>
        <p:nvCxnSpPr>
          <p:cNvPr id="12" name="Connector 11"/>
          <p:cNvCxnSpPr/>
          <p:nvPr/>
        </p:nvCxnSpPr>
        <p:spPr>
          <a:xfrm>
            <a:off x="4495800" y="2871216"/>
            <a:ext cx="210312"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724400" y="2514600"/>
            <a:ext cx="1234440" cy="713232"/>
          </a:xfrm>
          <a:prstGeom prst="roundRect">
            <a:avLst/>
          </a:prstGeom>
          <a:solidFill>
            <a:srgbClr val="F8FAFC"/>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F172A"/>
                </a:solidFill>
                <a:latin typeface="Calibri"/>
              </a:defRPr>
            </a:pPr>
            <a:r>
              <a:t>SQLite</a:t>
            </a:r>
            <a:br/>
            <a:r>
              <a:t>Database</a:t>
            </a:r>
          </a:p>
        </p:txBody>
      </p:sp>
      <p:cxnSp>
        <p:nvCxnSpPr>
          <p:cNvPr id="14" name="Connector 13"/>
          <p:cNvCxnSpPr/>
          <p:nvPr/>
        </p:nvCxnSpPr>
        <p:spPr>
          <a:xfrm>
            <a:off x="5943600" y="2871216"/>
            <a:ext cx="210312" cy="0"/>
          </a:xfrm>
          <a:prstGeom prst="line">
            <a:avLst/>
          </a:prstGeom>
          <a:ln w="25400">
            <a:solidFill>
              <a:srgbClr val="16A34A"/>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172200" y="2514600"/>
            <a:ext cx="1234440" cy="713232"/>
          </a:xfrm>
          <a:prstGeom prst="roundRect">
            <a:avLst/>
          </a:prstGeom>
          <a:solidFill>
            <a:srgbClr val="F8FAFC"/>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F172A"/>
                </a:solidFill>
                <a:latin typeface="Calibri"/>
              </a:defRPr>
            </a:pPr>
            <a:r>
              <a:t>Power BI</a:t>
            </a:r>
            <a:br/>
            <a:r>
              <a:t>Dashboard</a:t>
            </a:r>
          </a:p>
        </p:txBody>
      </p:sp>
      <p:cxnSp>
        <p:nvCxnSpPr>
          <p:cNvPr id="16" name="Connector 15"/>
          <p:cNvCxnSpPr/>
          <p:nvPr/>
        </p:nvCxnSpPr>
        <p:spPr>
          <a:xfrm>
            <a:off x="7391400" y="2871216"/>
            <a:ext cx="210312" cy="0"/>
          </a:xfrm>
          <a:prstGeom prst="line">
            <a:avLst/>
          </a:prstGeom>
          <a:ln w="25400">
            <a:solidFill>
              <a:srgbClr val="1D4ED8"/>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620000" y="2514600"/>
            <a:ext cx="1234440" cy="713232"/>
          </a:xfrm>
          <a:prstGeom prst="roundRect">
            <a:avLst/>
          </a:prstGeom>
          <a:solidFill>
            <a:srgbClr val="F8FAFC"/>
          </a:solidFill>
          <a:ln w="19050">
            <a:solidFill>
              <a:srgbClr val="0F767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F172A"/>
                </a:solidFill>
                <a:latin typeface="Calibri"/>
              </a:defRPr>
            </a:pPr>
            <a:r>
              <a:t>Academic</a:t>
            </a:r>
            <a:br/>
            <a:r>
              <a:t>Insights</a:t>
            </a:r>
          </a:p>
        </p:txBody>
      </p:sp>
      <p:sp>
        <p:nvSpPr>
          <p:cNvPr id="18" name="TextBox 17"/>
          <p:cNvSpPr txBox="1"/>
          <p:nvPr/>
        </p:nvSpPr>
        <p:spPr>
          <a:xfrm>
            <a:off x="533400" y="3749039"/>
            <a:ext cx="7498079" cy="320040"/>
          </a:xfrm>
          <a:prstGeom prst="rect">
            <a:avLst/>
          </a:prstGeom>
          <a:noFill/>
        </p:spPr>
        <p:txBody>
          <a:bodyPr wrap="none" anchor="ctr">
            <a:spAutoFit/>
          </a:bodyPr>
          <a:lstStyle/>
          <a:p>
            <a:pPr algn="ctr">
              <a:defRPr sz="1200" b="0">
                <a:solidFill>
                  <a:srgbClr val="475569"/>
                </a:solidFill>
                <a:latin typeface="Calibri"/>
              </a:defRPr>
            </a:pPr>
            <a:r>
              <a:rPr dirty="0"/>
              <a:t>Data Model: Students  |  Subjects  |  Academic Records  |  Attendance  |  Re-exam Records  |  Semester Performance</a:t>
            </a:r>
          </a:p>
        </p:txBody>
      </p:sp>
      <p:sp>
        <p:nvSpPr>
          <p:cNvPr id="19" name="Rounded Rectangle 18"/>
          <p:cNvSpPr/>
          <p:nvPr/>
        </p:nvSpPr>
        <p:spPr>
          <a:xfrm>
            <a:off x="914400" y="4251960"/>
            <a:ext cx="1920240" cy="457200"/>
          </a:xfrm>
          <a:prstGeom prst="roundRect">
            <a:avLst/>
          </a:prstGeom>
          <a:solidFill>
            <a:srgbClr val="DBEA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F172A"/>
                </a:solidFill>
                <a:latin typeface="Calibri"/>
              </a:defRPr>
            </a:pPr>
            <a:r>
              <a:t>Primary / Foreign Keys</a:t>
            </a:r>
          </a:p>
        </p:txBody>
      </p:sp>
      <p:sp>
        <p:nvSpPr>
          <p:cNvPr id="20" name="Rounded Rectangle 19"/>
          <p:cNvSpPr/>
          <p:nvPr/>
        </p:nvSpPr>
        <p:spPr>
          <a:xfrm>
            <a:off x="3291840" y="4251960"/>
            <a:ext cx="1920240" cy="457200"/>
          </a:xfrm>
          <a:prstGeom prst="roundRect">
            <a:avLst/>
          </a:prstGeom>
          <a:solidFill>
            <a:srgbClr val="FEF3C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F172A"/>
                </a:solidFill>
                <a:latin typeface="Calibri"/>
              </a:defRPr>
            </a:pPr>
            <a:r>
              <a:t>Constraints &amp; Indexes</a:t>
            </a:r>
          </a:p>
        </p:txBody>
      </p:sp>
      <p:sp>
        <p:nvSpPr>
          <p:cNvPr id="21" name="Rounded Rectangle 20"/>
          <p:cNvSpPr/>
          <p:nvPr/>
        </p:nvSpPr>
        <p:spPr>
          <a:xfrm>
            <a:off x="5669280" y="4251960"/>
            <a:ext cx="1920240" cy="457200"/>
          </a:xfrm>
          <a:prstGeom prst="roundRect">
            <a:avLst/>
          </a:prstGeom>
          <a:solidFill>
            <a:srgbClr val="DCFCE7"/>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F172A"/>
                </a:solidFill>
                <a:latin typeface="Calibri"/>
              </a:defRPr>
            </a:pPr>
            <a:r>
              <a:t>Interactive Filters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59F68-BEA2-7D83-83CC-DB2FA3DB80A7}"/>
              </a:ext>
            </a:extLst>
          </p:cNvPr>
          <p:cNvSpPr>
            <a:spLocks noGrp="1"/>
          </p:cNvSpPr>
          <p:nvPr>
            <p:ph type="title"/>
          </p:nvPr>
        </p:nvSpPr>
        <p:spPr/>
        <p:txBody>
          <a:bodyPr>
            <a:normAutofit/>
          </a:bodyPr>
          <a:lstStyle/>
          <a:p>
            <a:pPr algn="ctr"/>
            <a:r>
              <a:rPr sz="3400">
                <a:solidFill>
                  <a:srgbClr val="000000"/>
                </a:solidFill>
                <a:latin typeface="Calibri"/>
              </a:rPr>
              <a:t>MODULE IMPLEMENTATION</a:t>
            </a:r>
          </a:p>
        </p:txBody>
      </p:sp>
      <p:sp>
        <p:nvSpPr>
          <p:cNvPr id="5" name="Footer Placeholder 4">
            <a:extLst>
              <a:ext uri="{FF2B5EF4-FFF2-40B4-BE49-F238E27FC236}">
                <a16:creationId xmlns:a16="http://schemas.microsoft.com/office/drawing/2014/main" id="{397B7C33-DB32-8A92-0FB9-94A237F8119B}"/>
              </a:ext>
            </a:extLst>
          </p:cNvPr>
          <p:cNvSpPr>
            <a:spLocks noGrp="1"/>
          </p:cNvSpPr>
          <p:nvPr>
            <p:ph type="ftr" sz="quarter" idx="11"/>
          </p:nvPr>
        </p:nvSpPr>
        <p:spPr/>
        <p:txBody>
          <a:bodyPr/>
          <a:lstStyle/>
          <a:p>
            <a:pPr algn="ctr"/>
            <a:r>
              <a:rPr sz="1000">
                <a:solidFill>
                  <a:srgbClr val="808080"/>
                </a:solidFill>
                <a:latin typeface="Arial"/>
              </a:rPr>
              <a:t>School of Computing - CSE</a:t>
            </a:r>
            <a:endParaRPr lang="en-US" dirty="0"/>
          </a:p>
        </p:txBody>
      </p:sp>
      <p:sp>
        <p:nvSpPr>
          <p:cNvPr id="6" name="Slide Number Placeholder 5">
            <a:extLst>
              <a:ext uri="{FF2B5EF4-FFF2-40B4-BE49-F238E27FC236}">
                <a16:creationId xmlns:a16="http://schemas.microsoft.com/office/drawing/2014/main" id="{BACB38E7-C314-D639-6C8E-0B5C6D5174D1}"/>
              </a:ext>
            </a:extLst>
          </p:cNvPr>
          <p:cNvSpPr>
            <a:spLocks noGrp="1"/>
          </p:cNvSpPr>
          <p:nvPr>
            <p:ph type="sldNum" sz="quarter" idx="12"/>
          </p:nvPr>
        </p:nvSpPr>
        <p:spPr/>
        <p:txBody>
          <a:bodyPr/>
          <a:lstStyle/>
          <a:p>
            <a:pPr algn="r"/>
            <a:r>
              <a:rPr sz="1000">
                <a:solidFill>
                  <a:srgbClr val="808080"/>
                </a:solidFill>
                <a:latin typeface="Arial"/>
              </a:rPr>
              <a:t>9</a:t>
            </a:r>
            <a:endParaRPr lang="en-US" dirty="0"/>
          </a:p>
        </p:txBody>
      </p:sp>
      <p:sp>
        <p:nvSpPr>
          <p:cNvPr id="4" name="Content Placeholder 3"/>
          <p:cNvSpPr>
            <a:spLocks noGrp="1"/>
          </p:cNvSpPr>
          <p:nvPr>
            <p:ph idx="1"/>
          </p:nvPr>
        </p:nvSpPr>
        <p:spPr>
          <a:xfrm>
            <a:off x="502920" y="1463040"/>
            <a:ext cx="8138160" cy="4480560"/>
          </a:xfrm>
        </p:spPr>
        <p:txBody>
          <a:bodyPr lIns="45720" rIns="45720" anchor="t"/>
          <a:lstStyle/>
          <a:p>
            <a:pPr marL="0" indent="0" algn="l">
              <a:spcAft>
                <a:spcPts val="800"/>
              </a:spcAft>
              <a:buNone/>
            </a:pPr>
            <a:endParaRPr lang="en-US" dirty="0"/>
          </a:p>
          <a:p>
            <a:pPr marL="0" indent="0" algn="l">
              <a:spcAft>
                <a:spcPts val="800"/>
              </a:spcAft>
              <a:buNone/>
            </a:pPr>
            <a:endParaRPr lang="en-US" dirty="0"/>
          </a:p>
        </p:txBody>
      </p:sp>
      <p:sp>
        <p:nvSpPr>
          <p:cNvPr id="7" name="Oval 6"/>
          <p:cNvSpPr/>
          <p:nvPr/>
        </p:nvSpPr>
        <p:spPr>
          <a:xfrm>
            <a:off x="640080" y="1691640"/>
            <a:ext cx="502920" cy="502920"/>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1</a:t>
            </a:r>
          </a:p>
        </p:txBody>
      </p:sp>
      <p:sp>
        <p:nvSpPr>
          <p:cNvPr id="8" name="Rounded Rectangle 7"/>
          <p:cNvSpPr/>
          <p:nvPr/>
        </p:nvSpPr>
        <p:spPr>
          <a:xfrm>
            <a:off x="1261872" y="1645920"/>
            <a:ext cx="1828800" cy="594360"/>
          </a:xfrm>
          <a:prstGeom prst="roundRect">
            <a:avLst/>
          </a:prstGeom>
          <a:solidFill>
            <a:srgbClr val="F8FAFC"/>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F172A"/>
                </a:solidFill>
                <a:latin typeface="Calibri"/>
              </a:defRPr>
            </a:pPr>
            <a:r>
              <a:t>Data</a:t>
            </a:r>
            <a:br/>
            <a:r>
              <a:t>Preparation</a:t>
            </a:r>
          </a:p>
        </p:txBody>
      </p:sp>
      <p:sp>
        <p:nvSpPr>
          <p:cNvPr id="9" name="Oval 8"/>
          <p:cNvSpPr/>
          <p:nvPr/>
        </p:nvSpPr>
        <p:spPr>
          <a:xfrm>
            <a:off x="3383280" y="1691640"/>
            <a:ext cx="502920" cy="502920"/>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2</a:t>
            </a:r>
          </a:p>
        </p:txBody>
      </p:sp>
      <p:sp>
        <p:nvSpPr>
          <p:cNvPr id="10" name="Rounded Rectangle 9"/>
          <p:cNvSpPr/>
          <p:nvPr/>
        </p:nvSpPr>
        <p:spPr>
          <a:xfrm>
            <a:off x="4005072" y="1645920"/>
            <a:ext cx="1828800" cy="594360"/>
          </a:xfrm>
          <a:prstGeom prst="roundRect">
            <a:avLst/>
          </a:prstGeom>
          <a:solidFill>
            <a:srgbClr val="F8FAFC"/>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F172A"/>
                </a:solidFill>
                <a:latin typeface="Calibri"/>
              </a:defRPr>
            </a:pPr>
            <a:r>
              <a:t>Data</a:t>
            </a:r>
            <a:br/>
            <a:r>
              <a:t>Cleaning</a:t>
            </a:r>
          </a:p>
        </p:txBody>
      </p:sp>
      <p:sp>
        <p:nvSpPr>
          <p:cNvPr id="11" name="Oval 10"/>
          <p:cNvSpPr/>
          <p:nvPr/>
        </p:nvSpPr>
        <p:spPr>
          <a:xfrm>
            <a:off x="6126480" y="1691640"/>
            <a:ext cx="502920" cy="502920"/>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3</a:t>
            </a:r>
          </a:p>
        </p:txBody>
      </p:sp>
      <p:sp>
        <p:nvSpPr>
          <p:cNvPr id="12" name="Rounded Rectangle 11"/>
          <p:cNvSpPr/>
          <p:nvPr/>
        </p:nvSpPr>
        <p:spPr>
          <a:xfrm>
            <a:off x="6748272" y="1645920"/>
            <a:ext cx="1828800" cy="594360"/>
          </a:xfrm>
          <a:prstGeom prst="roundRect">
            <a:avLst/>
          </a:prstGeom>
          <a:solidFill>
            <a:srgbClr val="F8FAFC"/>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F172A"/>
                </a:solidFill>
                <a:latin typeface="Calibri"/>
              </a:defRPr>
            </a:pPr>
            <a:r>
              <a:t>EDA</a:t>
            </a:r>
            <a:br/>
            <a:r>
              <a:t>Analysis</a:t>
            </a:r>
          </a:p>
        </p:txBody>
      </p:sp>
      <p:sp>
        <p:nvSpPr>
          <p:cNvPr id="13" name="Oval 12"/>
          <p:cNvSpPr/>
          <p:nvPr/>
        </p:nvSpPr>
        <p:spPr>
          <a:xfrm>
            <a:off x="640080" y="3200400"/>
            <a:ext cx="502920" cy="502920"/>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4</a:t>
            </a:r>
          </a:p>
        </p:txBody>
      </p:sp>
      <p:sp>
        <p:nvSpPr>
          <p:cNvPr id="14" name="Rounded Rectangle 13"/>
          <p:cNvSpPr/>
          <p:nvPr/>
        </p:nvSpPr>
        <p:spPr>
          <a:xfrm>
            <a:off x="1261872" y="3154680"/>
            <a:ext cx="1828800" cy="594360"/>
          </a:xfrm>
          <a:prstGeom prst="roundRect">
            <a:avLst/>
          </a:prstGeom>
          <a:solidFill>
            <a:srgbClr val="F8FAFC"/>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F172A"/>
                </a:solidFill>
                <a:latin typeface="Calibri"/>
              </a:defRPr>
            </a:pPr>
            <a:r>
              <a:t>Feature</a:t>
            </a:r>
            <a:br/>
            <a:r>
              <a:t>Engineering</a:t>
            </a:r>
          </a:p>
        </p:txBody>
      </p:sp>
      <p:sp>
        <p:nvSpPr>
          <p:cNvPr id="15" name="Oval 14"/>
          <p:cNvSpPr/>
          <p:nvPr/>
        </p:nvSpPr>
        <p:spPr>
          <a:xfrm>
            <a:off x="3383280" y="3200400"/>
            <a:ext cx="502920" cy="502920"/>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5</a:t>
            </a:r>
          </a:p>
        </p:txBody>
      </p:sp>
      <p:sp>
        <p:nvSpPr>
          <p:cNvPr id="16" name="Rounded Rectangle 15"/>
          <p:cNvSpPr/>
          <p:nvPr/>
        </p:nvSpPr>
        <p:spPr>
          <a:xfrm>
            <a:off x="4005072" y="3154680"/>
            <a:ext cx="1828800" cy="594360"/>
          </a:xfrm>
          <a:prstGeom prst="roundRect">
            <a:avLst/>
          </a:prstGeom>
          <a:solidFill>
            <a:srgbClr val="F8FAFC"/>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F172A"/>
                </a:solidFill>
                <a:latin typeface="Calibri"/>
              </a:defRPr>
            </a:pPr>
            <a:r>
              <a:t>Statistical</a:t>
            </a:r>
            <a:br/>
            <a:r>
              <a:t>Analysis</a:t>
            </a:r>
          </a:p>
        </p:txBody>
      </p:sp>
      <p:sp>
        <p:nvSpPr>
          <p:cNvPr id="17" name="Oval 16"/>
          <p:cNvSpPr/>
          <p:nvPr/>
        </p:nvSpPr>
        <p:spPr>
          <a:xfrm>
            <a:off x="6126480" y="3200400"/>
            <a:ext cx="502920" cy="502920"/>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6</a:t>
            </a:r>
          </a:p>
        </p:txBody>
      </p:sp>
      <p:sp>
        <p:nvSpPr>
          <p:cNvPr id="18" name="Rounded Rectangle 17"/>
          <p:cNvSpPr/>
          <p:nvPr/>
        </p:nvSpPr>
        <p:spPr>
          <a:xfrm>
            <a:off x="6748272" y="3154680"/>
            <a:ext cx="1828800" cy="594360"/>
          </a:xfrm>
          <a:prstGeom prst="roundRect">
            <a:avLst/>
          </a:prstGeom>
          <a:solidFill>
            <a:srgbClr val="F8FAFC"/>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F172A"/>
                </a:solidFill>
                <a:latin typeface="Calibri"/>
              </a:defRPr>
            </a:pPr>
            <a:r>
              <a:t>SQL +</a:t>
            </a:r>
            <a:br/>
            <a:r>
              <a:t>Power BI</a:t>
            </a:r>
          </a:p>
        </p:txBody>
      </p:sp>
      <p:sp>
        <p:nvSpPr>
          <p:cNvPr id="19" name="TextBox 18"/>
          <p:cNvSpPr txBox="1"/>
          <p:nvPr/>
        </p:nvSpPr>
        <p:spPr>
          <a:xfrm>
            <a:off x="502920" y="4511889"/>
            <a:ext cx="8138160" cy="1400383"/>
          </a:xfrm>
          <a:prstGeom prst="rect">
            <a:avLst/>
          </a:prstGeom>
          <a:noFill/>
        </p:spPr>
        <p:txBody>
          <a:bodyPr wrap="square" anchor="ctr">
            <a:spAutoFit/>
          </a:bodyPr>
          <a:lstStyle/>
          <a:p>
            <a:pPr>
              <a:defRPr sz="1300" b="0">
                <a:solidFill>
                  <a:srgbClr val="0F172A"/>
                </a:solidFill>
                <a:latin typeface="Calibri"/>
              </a:defRPr>
            </a:pPr>
            <a:r>
              <a:rPr lang="en-US" sz="2400" dirty="0"/>
              <a:t>All modules were validated using row counts, missing value checks, relationship checks and cross-verification between Python, SQL and Power BI</a:t>
            </a:r>
            <a:r>
              <a:rPr lang="en-US" dirty="0"/>
              <a:t>.</a:t>
            </a:r>
          </a:p>
          <a:p>
            <a:pPr>
              <a:defRPr sz="1300" b="0">
                <a:solidFill>
                  <a:srgbClr val="0F172A"/>
                </a:solidFill>
                <a:latin typeface="Calibri"/>
              </a:defRPr>
            </a:pP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59F68-BEA2-7D83-83CC-DB2FA3DB80A7}"/>
              </a:ext>
            </a:extLst>
          </p:cNvPr>
          <p:cNvSpPr>
            <a:spLocks noGrp="1"/>
          </p:cNvSpPr>
          <p:nvPr>
            <p:ph type="title"/>
          </p:nvPr>
        </p:nvSpPr>
        <p:spPr/>
        <p:txBody>
          <a:bodyPr>
            <a:normAutofit/>
          </a:bodyPr>
          <a:lstStyle/>
          <a:p>
            <a:pPr algn="ctr"/>
            <a:r>
              <a:rPr sz="3400">
                <a:solidFill>
                  <a:srgbClr val="000000"/>
                </a:solidFill>
                <a:latin typeface="Calibri"/>
              </a:rPr>
              <a:t>RESULTS AND DISCUSSIONS</a:t>
            </a:r>
          </a:p>
        </p:txBody>
      </p:sp>
      <p:sp>
        <p:nvSpPr>
          <p:cNvPr id="5" name="Footer Placeholder 4">
            <a:extLst>
              <a:ext uri="{FF2B5EF4-FFF2-40B4-BE49-F238E27FC236}">
                <a16:creationId xmlns:a16="http://schemas.microsoft.com/office/drawing/2014/main" id="{397B7C33-DB32-8A92-0FB9-94A237F8119B}"/>
              </a:ext>
            </a:extLst>
          </p:cNvPr>
          <p:cNvSpPr>
            <a:spLocks noGrp="1"/>
          </p:cNvSpPr>
          <p:nvPr>
            <p:ph type="ftr" sz="quarter" idx="11"/>
          </p:nvPr>
        </p:nvSpPr>
        <p:spPr/>
        <p:txBody>
          <a:bodyPr/>
          <a:lstStyle/>
          <a:p>
            <a:pPr algn="ctr"/>
            <a:r>
              <a:rPr sz="1000">
                <a:solidFill>
                  <a:srgbClr val="808080"/>
                </a:solidFill>
                <a:latin typeface="Arial"/>
              </a:rPr>
              <a:t>School of Computing - CSE</a:t>
            </a:r>
            <a:endParaRPr lang="en-US" dirty="0"/>
          </a:p>
        </p:txBody>
      </p:sp>
      <p:sp>
        <p:nvSpPr>
          <p:cNvPr id="6" name="Slide Number Placeholder 5">
            <a:extLst>
              <a:ext uri="{FF2B5EF4-FFF2-40B4-BE49-F238E27FC236}">
                <a16:creationId xmlns:a16="http://schemas.microsoft.com/office/drawing/2014/main" id="{BACB38E7-C314-D639-6C8E-0B5C6D5174D1}"/>
              </a:ext>
            </a:extLst>
          </p:cNvPr>
          <p:cNvSpPr>
            <a:spLocks noGrp="1"/>
          </p:cNvSpPr>
          <p:nvPr>
            <p:ph type="sldNum" sz="quarter" idx="12"/>
          </p:nvPr>
        </p:nvSpPr>
        <p:spPr/>
        <p:txBody>
          <a:bodyPr/>
          <a:lstStyle/>
          <a:p>
            <a:pPr algn="r"/>
            <a:r>
              <a:rPr sz="1000">
                <a:solidFill>
                  <a:srgbClr val="808080"/>
                </a:solidFill>
                <a:latin typeface="Arial"/>
              </a:rPr>
              <a:t>10</a:t>
            </a:r>
            <a:endParaRPr lang="en-US" dirty="0"/>
          </a:p>
        </p:txBody>
      </p:sp>
      <p:sp>
        <p:nvSpPr>
          <p:cNvPr id="4" name="Content Placeholder 3"/>
          <p:cNvSpPr>
            <a:spLocks noGrp="1"/>
          </p:cNvSpPr>
          <p:nvPr>
            <p:ph idx="1"/>
          </p:nvPr>
        </p:nvSpPr>
        <p:spPr>
          <a:xfrm>
            <a:off x="411480" y="1417320"/>
            <a:ext cx="8321040" cy="4754880"/>
          </a:xfrm>
        </p:spPr>
        <p:txBody>
          <a:bodyPr lIns="45720" rIns="45720" anchor="t"/>
          <a:lstStyle/>
          <a:p>
            <a:pPr marL="0" indent="0" algn="l">
              <a:spcAft>
                <a:spcPts val="800"/>
              </a:spcAft>
              <a:buNone/>
            </a:pPr>
            <a:endParaRPr lang="en-US" dirty="0"/>
          </a:p>
          <a:p>
            <a:pPr marL="0" indent="0" algn="l">
              <a:spcAft>
                <a:spcPts val="800"/>
              </a:spcAft>
              <a:buNone/>
            </a:pPr>
            <a:endParaRPr lang="en-US" dirty="0"/>
          </a:p>
        </p:txBody>
      </p:sp>
      <p:sp>
        <p:nvSpPr>
          <p:cNvPr id="7" name="Rounded Rectangle 6"/>
          <p:cNvSpPr/>
          <p:nvPr/>
        </p:nvSpPr>
        <p:spPr>
          <a:xfrm>
            <a:off x="502920" y="1508760"/>
            <a:ext cx="1216152" cy="594360"/>
          </a:xfrm>
          <a:prstGeom prst="roundRect">
            <a:avLst/>
          </a:prstGeom>
          <a:solidFill>
            <a:srgbClr val="FFFFFF"/>
          </a:solidFill>
          <a:ln w="19050">
            <a:solidFill>
              <a:srgbClr val="8FA1B5"/>
            </a:solidFill>
          </a:ln>
        </p:spPr>
        <p:style>
          <a:lnRef idx="1">
            <a:schemeClr val="accent1"/>
          </a:lnRef>
          <a:fillRef idx="3">
            <a:schemeClr val="accent1"/>
          </a:fillRef>
          <a:effectRef idx="2">
            <a:schemeClr val="accent1"/>
          </a:effectRef>
          <a:fontRef idx="minor">
            <a:schemeClr val="lt1"/>
          </a:fontRef>
        </p:style>
        <p:txBody>
          <a:bodyPr lIns="109728" tIns="54864" rIns="73152" rtlCol="0" anchor="ctr"/>
          <a:lstStyle/>
          <a:p>
            <a:pPr algn="ctr">
              <a:defRPr sz="1000">
                <a:solidFill>
                  <a:srgbClr val="475569"/>
                </a:solidFill>
                <a:latin typeface="Calibri"/>
              </a:defRPr>
            </a:pPr>
            <a:r>
              <a:t>Students</a:t>
            </a:r>
          </a:p>
          <a:p>
            <a:pPr>
              <a:defRPr sz="2000" b="1">
                <a:solidFill>
                  <a:srgbClr val="0F172A"/>
                </a:solidFill>
                <a:latin typeface="Calibri"/>
              </a:defRPr>
            </a:pPr>
            <a:r>
              <a:t>500</a:t>
            </a:r>
          </a:p>
        </p:txBody>
      </p:sp>
      <p:sp>
        <p:nvSpPr>
          <p:cNvPr id="8" name="Rounded Rectangle 7"/>
          <p:cNvSpPr/>
          <p:nvPr/>
        </p:nvSpPr>
        <p:spPr>
          <a:xfrm>
            <a:off x="1874519" y="1508760"/>
            <a:ext cx="1216152" cy="594360"/>
          </a:xfrm>
          <a:prstGeom prst="roundRect">
            <a:avLst/>
          </a:prstGeom>
          <a:solidFill>
            <a:srgbClr val="FFFFFF"/>
          </a:solidFill>
          <a:ln w="19050">
            <a:solidFill>
              <a:srgbClr val="8FA1B5"/>
            </a:solidFill>
          </a:ln>
        </p:spPr>
        <p:style>
          <a:lnRef idx="1">
            <a:schemeClr val="accent1"/>
          </a:lnRef>
          <a:fillRef idx="3">
            <a:schemeClr val="accent1"/>
          </a:fillRef>
          <a:effectRef idx="2">
            <a:schemeClr val="accent1"/>
          </a:effectRef>
          <a:fontRef idx="minor">
            <a:schemeClr val="lt1"/>
          </a:fontRef>
        </p:style>
        <p:txBody>
          <a:bodyPr lIns="109728" tIns="54864" rIns="73152" rtlCol="0" anchor="ctr"/>
          <a:lstStyle/>
          <a:p>
            <a:pPr algn="ctr">
              <a:defRPr sz="1000">
                <a:solidFill>
                  <a:srgbClr val="475569"/>
                </a:solidFill>
                <a:latin typeface="Calibri"/>
              </a:defRPr>
            </a:pPr>
            <a:r>
              <a:t>Avg Score</a:t>
            </a:r>
          </a:p>
          <a:p>
            <a:pPr>
              <a:defRPr sz="2000" b="1">
                <a:solidFill>
                  <a:srgbClr val="0F172A"/>
                </a:solidFill>
                <a:latin typeface="Calibri"/>
              </a:defRPr>
            </a:pPr>
            <a:r>
              <a:t>67.09</a:t>
            </a:r>
          </a:p>
        </p:txBody>
      </p:sp>
      <p:sp>
        <p:nvSpPr>
          <p:cNvPr id="9" name="Rounded Rectangle 8"/>
          <p:cNvSpPr/>
          <p:nvPr/>
        </p:nvSpPr>
        <p:spPr>
          <a:xfrm>
            <a:off x="3246120" y="1508760"/>
            <a:ext cx="1216152" cy="594360"/>
          </a:xfrm>
          <a:prstGeom prst="roundRect">
            <a:avLst/>
          </a:prstGeom>
          <a:solidFill>
            <a:srgbClr val="FFFFFF"/>
          </a:solidFill>
          <a:ln w="19050">
            <a:solidFill>
              <a:srgbClr val="8FA1B5"/>
            </a:solidFill>
          </a:ln>
        </p:spPr>
        <p:style>
          <a:lnRef idx="1">
            <a:schemeClr val="accent1"/>
          </a:lnRef>
          <a:fillRef idx="3">
            <a:schemeClr val="accent1"/>
          </a:fillRef>
          <a:effectRef idx="2">
            <a:schemeClr val="accent1"/>
          </a:effectRef>
          <a:fontRef idx="minor">
            <a:schemeClr val="lt1"/>
          </a:fontRef>
        </p:style>
        <p:txBody>
          <a:bodyPr lIns="109728" tIns="54864" rIns="73152" rtlCol="0" anchor="ctr"/>
          <a:lstStyle/>
          <a:p>
            <a:pPr algn="ctr">
              <a:defRPr sz="1000">
                <a:solidFill>
                  <a:srgbClr val="475569"/>
                </a:solidFill>
                <a:latin typeface="Calibri"/>
              </a:defRPr>
            </a:pPr>
            <a:r>
              <a:t>Pass %</a:t>
            </a:r>
          </a:p>
          <a:p>
            <a:pPr>
              <a:defRPr sz="2000" b="1">
                <a:solidFill>
                  <a:srgbClr val="0F172A"/>
                </a:solidFill>
                <a:latin typeface="Calibri"/>
              </a:defRPr>
            </a:pPr>
            <a:r>
              <a:t>88.31%</a:t>
            </a:r>
          </a:p>
        </p:txBody>
      </p:sp>
      <p:sp>
        <p:nvSpPr>
          <p:cNvPr id="10" name="Rounded Rectangle 9"/>
          <p:cNvSpPr/>
          <p:nvPr/>
        </p:nvSpPr>
        <p:spPr>
          <a:xfrm>
            <a:off x="4617720" y="1508760"/>
            <a:ext cx="1216152" cy="594360"/>
          </a:xfrm>
          <a:prstGeom prst="roundRect">
            <a:avLst/>
          </a:prstGeom>
          <a:solidFill>
            <a:srgbClr val="FFFFFF"/>
          </a:solidFill>
          <a:ln w="19050">
            <a:solidFill>
              <a:srgbClr val="8FA1B5"/>
            </a:solidFill>
          </a:ln>
        </p:spPr>
        <p:style>
          <a:lnRef idx="1">
            <a:schemeClr val="accent1"/>
          </a:lnRef>
          <a:fillRef idx="3">
            <a:schemeClr val="accent1"/>
          </a:fillRef>
          <a:effectRef idx="2">
            <a:schemeClr val="accent1"/>
          </a:effectRef>
          <a:fontRef idx="minor">
            <a:schemeClr val="lt1"/>
          </a:fontRef>
        </p:style>
        <p:txBody>
          <a:bodyPr lIns="109728" tIns="54864" rIns="73152" rtlCol="0" anchor="ctr"/>
          <a:lstStyle/>
          <a:p>
            <a:pPr algn="ctr">
              <a:defRPr sz="1000">
                <a:solidFill>
                  <a:srgbClr val="475569"/>
                </a:solidFill>
                <a:latin typeface="Calibri"/>
              </a:defRPr>
            </a:pPr>
            <a:r>
              <a:t>Attendance</a:t>
            </a:r>
          </a:p>
          <a:p>
            <a:pPr>
              <a:defRPr sz="2000" b="1">
                <a:solidFill>
                  <a:srgbClr val="0F172A"/>
                </a:solidFill>
                <a:latin typeface="Calibri"/>
              </a:defRPr>
            </a:pPr>
            <a:r>
              <a:t>80.16%</a:t>
            </a:r>
          </a:p>
        </p:txBody>
      </p:sp>
      <p:sp>
        <p:nvSpPr>
          <p:cNvPr id="11" name="Rounded Rectangle 10"/>
          <p:cNvSpPr/>
          <p:nvPr/>
        </p:nvSpPr>
        <p:spPr>
          <a:xfrm>
            <a:off x="5989320" y="1508760"/>
            <a:ext cx="1216152" cy="594360"/>
          </a:xfrm>
          <a:prstGeom prst="roundRect">
            <a:avLst/>
          </a:prstGeom>
          <a:solidFill>
            <a:srgbClr val="FFFFFF"/>
          </a:solidFill>
          <a:ln w="19050">
            <a:solidFill>
              <a:srgbClr val="8FA1B5"/>
            </a:solidFill>
          </a:ln>
        </p:spPr>
        <p:style>
          <a:lnRef idx="1">
            <a:schemeClr val="accent1"/>
          </a:lnRef>
          <a:fillRef idx="3">
            <a:schemeClr val="accent1"/>
          </a:fillRef>
          <a:effectRef idx="2">
            <a:schemeClr val="accent1"/>
          </a:effectRef>
          <a:fontRef idx="minor">
            <a:schemeClr val="lt1"/>
          </a:fontRef>
        </p:style>
        <p:txBody>
          <a:bodyPr lIns="109728" tIns="54864" rIns="73152" rtlCol="0" anchor="ctr"/>
          <a:lstStyle/>
          <a:p>
            <a:pPr algn="ctr">
              <a:defRPr sz="1000">
                <a:solidFill>
                  <a:srgbClr val="475569"/>
                </a:solidFill>
                <a:latin typeface="Calibri"/>
              </a:defRPr>
            </a:pPr>
            <a:r>
              <a:t>Final CGPA</a:t>
            </a:r>
          </a:p>
          <a:p>
            <a:pPr>
              <a:defRPr sz="2000" b="1">
                <a:solidFill>
                  <a:srgbClr val="0F172A"/>
                </a:solidFill>
                <a:latin typeface="Calibri"/>
              </a:defRPr>
            </a:pPr>
            <a:r>
              <a:t>7.48</a:t>
            </a:r>
          </a:p>
        </p:txBody>
      </p:sp>
      <p:sp>
        <p:nvSpPr>
          <p:cNvPr id="12" name="Rounded Rectangle 11"/>
          <p:cNvSpPr/>
          <p:nvPr/>
        </p:nvSpPr>
        <p:spPr>
          <a:xfrm>
            <a:off x="7360920" y="1508760"/>
            <a:ext cx="1216152" cy="594360"/>
          </a:xfrm>
          <a:prstGeom prst="roundRect">
            <a:avLst/>
          </a:prstGeom>
          <a:solidFill>
            <a:srgbClr val="FFFFFF"/>
          </a:solidFill>
          <a:ln w="19050">
            <a:solidFill>
              <a:srgbClr val="8FA1B5"/>
            </a:solidFill>
          </a:ln>
        </p:spPr>
        <p:style>
          <a:lnRef idx="1">
            <a:schemeClr val="accent1"/>
          </a:lnRef>
          <a:fillRef idx="3">
            <a:schemeClr val="accent1"/>
          </a:fillRef>
          <a:effectRef idx="2">
            <a:schemeClr val="accent1"/>
          </a:effectRef>
          <a:fontRef idx="minor">
            <a:schemeClr val="lt1"/>
          </a:fontRef>
        </p:style>
        <p:txBody>
          <a:bodyPr lIns="109728" tIns="54864" rIns="73152" rtlCol="0" anchor="ctr"/>
          <a:lstStyle/>
          <a:p>
            <a:pPr algn="ctr">
              <a:defRPr sz="1000">
                <a:solidFill>
                  <a:srgbClr val="475569"/>
                </a:solidFill>
                <a:latin typeface="Calibri"/>
              </a:defRPr>
            </a:pPr>
            <a:r>
              <a:t>Backlogs</a:t>
            </a:r>
          </a:p>
          <a:p>
            <a:pPr>
              <a:defRPr sz="2000" b="1">
                <a:solidFill>
                  <a:srgbClr val="0F172A"/>
                </a:solidFill>
                <a:latin typeface="Calibri"/>
              </a:defRPr>
            </a:pPr>
            <a:r>
              <a:t>342</a:t>
            </a:r>
          </a:p>
        </p:txBody>
      </p:sp>
      <p:sp>
        <p:nvSpPr>
          <p:cNvPr id="13" name="Rectangle 12"/>
          <p:cNvSpPr/>
          <p:nvPr/>
        </p:nvSpPr>
        <p:spPr>
          <a:xfrm>
            <a:off x="502920" y="2331720"/>
            <a:ext cx="2514600" cy="2560320"/>
          </a:xfrm>
          <a:prstGeom prst="rect">
            <a:avLst/>
          </a:prstGeom>
          <a:solidFill>
            <a:srgbClr val="FFFFFF"/>
          </a:solidFill>
          <a:ln w="12700">
            <a:solidFill>
              <a:srgbClr val="8FA1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2377439"/>
            <a:ext cx="2240280" cy="228600"/>
          </a:xfrm>
          <a:prstGeom prst="rect">
            <a:avLst/>
          </a:prstGeom>
          <a:noFill/>
        </p:spPr>
        <p:txBody>
          <a:bodyPr wrap="none" anchor="ctr">
            <a:spAutoFit/>
          </a:bodyPr>
          <a:lstStyle/>
          <a:p>
            <a:pPr algn="l">
              <a:defRPr sz="1100" b="1">
                <a:solidFill>
                  <a:srgbClr val="0F172A"/>
                </a:solidFill>
                <a:latin typeface="Calibri"/>
              </a:defRPr>
            </a:pPr>
            <a:r>
              <a:t>Dept. Average Score</a:t>
            </a:r>
          </a:p>
        </p:txBody>
      </p:sp>
      <p:cxnSp>
        <p:nvCxnSpPr>
          <p:cNvPr id="15" name="Connector 14"/>
          <p:cNvCxnSpPr/>
          <p:nvPr/>
        </p:nvCxnSpPr>
        <p:spPr>
          <a:xfrm>
            <a:off x="822960" y="4526279"/>
            <a:ext cx="1874519" cy="0"/>
          </a:xfrm>
          <a:prstGeom prst="line">
            <a:avLst/>
          </a:prstGeom>
          <a:ln w="12700">
            <a:solidFill>
              <a:srgbClr val="9CA3AF"/>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914400" y="3004931"/>
            <a:ext cx="165398" cy="1521348"/>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68680" y="4571999"/>
            <a:ext cx="256838" cy="182880"/>
          </a:xfrm>
          <a:prstGeom prst="rect">
            <a:avLst/>
          </a:prstGeom>
          <a:noFill/>
        </p:spPr>
        <p:txBody>
          <a:bodyPr wrap="none" anchor="ctr">
            <a:spAutoFit/>
          </a:bodyPr>
          <a:lstStyle/>
          <a:p>
            <a:pPr algn="ctr">
              <a:defRPr sz="800" b="0">
                <a:solidFill>
                  <a:srgbClr val="475569"/>
                </a:solidFill>
                <a:latin typeface="Calibri"/>
              </a:defRPr>
            </a:pPr>
            <a:r>
              <a:t>EEE</a:t>
            </a:r>
          </a:p>
        </p:txBody>
      </p:sp>
      <p:sp>
        <p:nvSpPr>
          <p:cNvPr id="18" name="Rectangle 17"/>
          <p:cNvSpPr/>
          <p:nvPr/>
        </p:nvSpPr>
        <p:spPr>
          <a:xfrm>
            <a:off x="1300330" y="3007412"/>
            <a:ext cx="165398" cy="1518867"/>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54610" y="4571999"/>
            <a:ext cx="256838" cy="182880"/>
          </a:xfrm>
          <a:prstGeom prst="rect">
            <a:avLst/>
          </a:prstGeom>
          <a:noFill/>
        </p:spPr>
        <p:txBody>
          <a:bodyPr wrap="none" anchor="ctr">
            <a:spAutoFit/>
          </a:bodyPr>
          <a:lstStyle/>
          <a:p>
            <a:pPr algn="ctr">
              <a:defRPr sz="800" b="0">
                <a:solidFill>
                  <a:srgbClr val="475569"/>
                </a:solidFill>
                <a:latin typeface="Calibri"/>
              </a:defRPr>
            </a:pPr>
            <a:r>
              <a:t>IT</a:t>
            </a:r>
          </a:p>
        </p:txBody>
      </p:sp>
      <p:sp>
        <p:nvSpPr>
          <p:cNvPr id="20" name="Rectangle 19"/>
          <p:cNvSpPr/>
          <p:nvPr/>
        </p:nvSpPr>
        <p:spPr>
          <a:xfrm>
            <a:off x="1686261" y="3009442"/>
            <a:ext cx="165398" cy="1516837"/>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640541" y="4571999"/>
            <a:ext cx="256838" cy="182880"/>
          </a:xfrm>
          <a:prstGeom prst="rect">
            <a:avLst/>
          </a:prstGeom>
          <a:noFill/>
        </p:spPr>
        <p:txBody>
          <a:bodyPr wrap="none" anchor="ctr">
            <a:spAutoFit/>
          </a:bodyPr>
          <a:lstStyle/>
          <a:p>
            <a:pPr algn="ctr">
              <a:defRPr sz="800" b="0">
                <a:solidFill>
                  <a:srgbClr val="475569"/>
                </a:solidFill>
                <a:latin typeface="Calibri"/>
              </a:defRPr>
            </a:pPr>
            <a:r>
              <a:t>ECE</a:t>
            </a:r>
          </a:p>
        </p:txBody>
      </p:sp>
      <p:sp>
        <p:nvSpPr>
          <p:cNvPr id="22" name="Rectangle 21"/>
          <p:cNvSpPr/>
          <p:nvPr/>
        </p:nvSpPr>
        <p:spPr>
          <a:xfrm>
            <a:off x="2072191" y="3020043"/>
            <a:ext cx="165398" cy="1506236"/>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026471" y="4571999"/>
            <a:ext cx="256838" cy="182880"/>
          </a:xfrm>
          <a:prstGeom prst="rect">
            <a:avLst/>
          </a:prstGeom>
          <a:noFill/>
        </p:spPr>
        <p:txBody>
          <a:bodyPr wrap="none" anchor="ctr">
            <a:spAutoFit/>
          </a:bodyPr>
          <a:lstStyle/>
          <a:p>
            <a:pPr algn="ctr">
              <a:defRPr sz="800" b="0">
                <a:solidFill>
                  <a:srgbClr val="475569"/>
                </a:solidFill>
                <a:latin typeface="Calibri"/>
              </a:defRPr>
            </a:pPr>
            <a:r>
              <a:t>CSE</a:t>
            </a:r>
          </a:p>
        </p:txBody>
      </p:sp>
      <p:sp>
        <p:nvSpPr>
          <p:cNvPr id="24" name="Rectangle 23"/>
          <p:cNvSpPr/>
          <p:nvPr/>
        </p:nvSpPr>
        <p:spPr>
          <a:xfrm>
            <a:off x="2458122" y="3023652"/>
            <a:ext cx="165398" cy="1502627"/>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412402" y="4571999"/>
            <a:ext cx="256838" cy="182880"/>
          </a:xfrm>
          <a:prstGeom prst="rect">
            <a:avLst/>
          </a:prstGeom>
          <a:noFill/>
        </p:spPr>
        <p:txBody>
          <a:bodyPr wrap="none" anchor="ctr">
            <a:spAutoFit/>
          </a:bodyPr>
          <a:lstStyle/>
          <a:p>
            <a:pPr algn="ctr">
              <a:defRPr sz="800" b="0">
                <a:solidFill>
                  <a:srgbClr val="475569"/>
                </a:solidFill>
                <a:latin typeface="Calibri"/>
              </a:defRPr>
            </a:pPr>
            <a:r>
              <a:t>MECH</a:t>
            </a:r>
          </a:p>
        </p:txBody>
      </p:sp>
      <p:sp>
        <p:nvSpPr>
          <p:cNvPr id="26" name="Rectangle 25"/>
          <p:cNvSpPr/>
          <p:nvPr/>
        </p:nvSpPr>
        <p:spPr>
          <a:xfrm>
            <a:off x="3337560" y="2331720"/>
            <a:ext cx="2514600" cy="2560320"/>
          </a:xfrm>
          <a:prstGeom prst="rect">
            <a:avLst/>
          </a:prstGeom>
          <a:solidFill>
            <a:srgbClr val="FFFFFF"/>
          </a:solidFill>
          <a:ln w="12700">
            <a:solidFill>
              <a:srgbClr val="8FA1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474720" y="2377439"/>
            <a:ext cx="2240280" cy="228600"/>
          </a:xfrm>
          <a:prstGeom prst="rect">
            <a:avLst/>
          </a:prstGeom>
          <a:noFill/>
        </p:spPr>
        <p:txBody>
          <a:bodyPr wrap="none" anchor="ctr">
            <a:spAutoFit/>
          </a:bodyPr>
          <a:lstStyle/>
          <a:p>
            <a:pPr algn="l">
              <a:defRPr sz="1100" b="1">
                <a:solidFill>
                  <a:srgbClr val="0F172A"/>
                </a:solidFill>
                <a:latin typeface="Calibri"/>
              </a:defRPr>
            </a:pPr>
            <a:r>
              <a:t>Semester Score Trend</a:t>
            </a:r>
          </a:p>
        </p:txBody>
      </p:sp>
      <p:cxnSp>
        <p:nvCxnSpPr>
          <p:cNvPr id="28" name="Connector 27"/>
          <p:cNvCxnSpPr/>
          <p:nvPr/>
        </p:nvCxnSpPr>
        <p:spPr>
          <a:xfrm>
            <a:off x="3657600" y="4526279"/>
            <a:ext cx="1874520" cy="0"/>
          </a:xfrm>
          <a:prstGeom prst="line">
            <a:avLst/>
          </a:prstGeom>
          <a:ln w="12700">
            <a:solidFill>
              <a:srgbClr val="9CA3A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3657600" y="2997037"/>
            <a:ext cx="267788" cy="487192"/>
          </a:xfrm>
          <a:prstGeom prst="line">
            <a:avLst/>
          </a:prstGeom>
          <a:ln w="2540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925388" y="2997037"/>
            <a:ext cx="267789" cy="811987"/>
          </a:xfrm>
          <a:prstGeom prst="line">
            <a:avLst/>
          </a:prstGeom>
          <a:ln w="2540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4193177" y="3565428"/>
            <a:ext cx="267788" cy="243596"/>
          </a:xfrm>
          <a:prstGeom prst="line">
            <a:avLst/>
          </a:prstGeom>
          <a:ln w="2540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460965" y="3565428"/>
            <a:ext cx="267789" cy="744322"/>
          </a:xfrm>
          <a:prstGeom prst="line">
            <a:avLst/>
          </a:prstGeom>
          <a:ln w="2540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728754" y="4309750"/>
            <a:ext cx="267788" cy="27066"/>
          </a:xfrm>
          <a:prstGeom prst="line">
            <a:avLst/>
          </a:prstGeom>
          <a:ln w="2540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4996542" y="3639860"/>
            <a:ext cx="267789" cy="696956"/>
          </a:xfrm>
          <a:prstGeom prst="line">
            <a:avLst/>
          </a:prstGeom>
          <a:ln w="2540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264331" y="3639860"/>
            <a:ext cx="267789" cy="534558"/>
          </a:xfrm>
          <a:prstGeom prst="line">
            <a:avLst/>
          </a:prstGeom>
          <a:ln w="25400">
            <a:solidFill>
              <a:srgbClr val="1D4ED8"/>
            </a:solidFill>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3625596" y="3452225"/>
            <a:ext cx="64008" cy="64008"/>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611880" y="4571999"/>
            <a:ext cx="91440" cy="182880"/>
          </a:xfrm>
          <a:prstGeom prst="rect">
            <a:avLst/>
          </a:prstGeom>
          <a:noFill/>
        </p:spPr>
        <p:txBody>
          <a:bodyPr wrap="none" anchor="ctr">
            <a:spAutoFit/>
          </a:bodyPr>
          <a:lstStyle/>
          <a:p>
            <a:pPr algn="ctr">
              <a:defRPr sz="800" b="0">
                <a:solidFill>
                  <a:srgbClr val="475569"/>
                </a:solidFill>
                <a:latin typeface="Calibri"/>
              </a:defRPr>
            </a:pPr>
            <a:r>
              <a:t>1</a:t>
            </a:r>
          </a:p>
        </p:txBody>
      </p:sp>
      <p:sp>
        <p:nvSpPr>
          <p:cNvPr id="38" name="Oval 37"/>
          <p:cNvSpPr/>
          <p:nvPr/>
        </p:nvSpPr>
        <p:spPr>
          <a:xfrm>
            <a:off x="3893384" y="2965033"/>
            <a:ext cx="64008" cy="64008"/>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879668" y="4571999"/>
            <a:ext cx="91440" cy="182880"/>
          </a:xfrm>
          <a:prstGeom prst="rect">
            <a:avLst/>
          </a:prstGeom>
          <a:noFill/>
        </p:spPr>
        <p:txBody>
          <a:bodyPr wrap="none" anchor="ctr">
            <a:spAutoFit/>
          </a:bodyPr>
          <a:lstStyle/>
          <a:p>
            <a:pPr algn="ctr">
              <a:defRPr sz="800" b="0">
                <a:solidFill>
                  <a:srgbClr val="475569"/>
                </a:solidFill>
                <a:latin typeface="Calibri"/>
              </a:defRPr>
            </a:pPr>
            <a:r>
              <a:t>2</a:t>
            </a:r>
          </a:p>
        </p:txBody>
      </p:sp>
      <p:sp>
        <p:nvSpPr>
          <p:cNvPr id="40" name="Oval 39"/>
          <p:cNvSpPr/>
          <p:nvPr/>
        </p:nvSpPr>
        <p:spPr>
          <a:xfrm>
            <a:off x="4161173" y="3777020"/>
            <a:ext cx="64008" cy="64008"/>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147457" y="4571999"/>
            <a:ext cx="91440" cy="182880"/>
          </a:xfrm>
          <a:prstGeom prst="rect">
            <a:avLst/>
          </a:prstGeom>
          <a:noFill/>
        </p:spPr>
        <p:txBody>
          <a:bodyPr wrap="none" anchor="ctr">
            <a:spAutoFit/>
          </a:bodyPr>
          <a:lstStyle/>
          <a:p>
            <a:pPr algn="ctr">
              <a:defRPr sz="800" b="0">
                <a:solidFill>
                  <a:srgbClr val="475569"/>
                </a:solidFill>
                <a:latin typeface="Calibri"/>
              </a:defRPr>
            </a:pPr>
            <a:r>
              <a:t>3</a:t>
            </a:r>
          </a:p>
        </p:txBody>
      </p:sp>
      <p:sp>
        <p:nvSpPr>
          <p:cNvPr id="42" name="Oval 41"/>
          <p:cNvSpPr/>
          <p:nvPr/>
        </p:nvSpPr>
        <p:spPr>
          <a:xfrm>
            <a:off x="4428961" y="3533424"/>
            <a:ext cx="64008" cy="64008"/>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415245" y="4571999"/>
            <a:ext cx="91440" cy="182880"/>
          </a:xfrm>
          <a:prstGeom prst="rect">
            <a:avLst/>
          </a:prstGeom>
          <a:noFill/>
        </p:spPr>
        <p:txBody>
          <a:bodyPr wrap="none" anchor="ctr">
            <a:spAutoFit/>
          </a:bodyPr>
          <a:lstStyle/>
          <a:p>
            <a:pPr algn="ctr">
              <a:defRPr sz="800" b="0">
                <a:solidFill>
                  <a:srgbClr val="475569"/>
                </a:solidFill>
                <a:latin typeface="Calibri"/>
              </a:defRPr>
            </a:pPr>
            <a:r>
              <a:t>4</a:t>
            </a:r>
          </a:p>
        </p:txBody>
      </p:sp>
      <p:sp>
        <p:nvSpPr>
          <p:cNvPr id="44" name="Oval 43"/>
          <p:cNvSpPr/>
          <p:nvPr/>
        </p:nvSpPr>
        <p:spPr>
          <a:xfrm>
            <a:off x="4696750" y="4277746"/>
            <a:ext cx="64008" cy="64008"/>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683034" y="4571999"/>
            <a:ext cx="91440" cy="182880"/>
          </a:xfrm>
          <a:prstGeom prst="rect">
            <a:avLst/>
          </a:prstGeom>
          <a:noFill/>
        </p:spPr>
        <p:txBody>
          <a:bodyPr wrap="none" anchor="ctr">
            <a:spAutoFit/>
          </a:bodyPr>
          <a:lstStyle/>
          <a:p>
            <a:pPr algn="ctr">
              <a:defRPr sz="800" b="0">
                <a:solidFill>
                  <a:srgbClr val="475569"/>
                </a:solidFill>
                <a:latin typeface="Calibri"/>
              </a:defRPr>
            </a:pPr>
            <a:r>
              <a:t>5</a:t>
            </a:r>
          </a:p>
        </p:txBody>
      </p:sp>
      <p:sp>
        <p:nvSpPr>
          <p:cNvPr id="46" name="Oval 45"/>
          <p:cNvSpPr/>
          <p:nvPr/>
        </p:nvSpPr>
        <p:spPr>
          <a:xfrm>
            <a:off x="4964538" y="4304812"/>
            <a:ext cx="64008" cy="64008"/>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950822" y="4571999"/>
            <a:ext cx="91440" cy="182880"/>
          </a:xfrm>
          <a:prstGeom prst="rect">
            <a:avLst/>
          </a:prstGeom>
          <a:noFill/>
        </p:spPr>
        <p:txBody>
          <a:bodyPr wrap="none" anchor="ctr">
            <a:spAutoFit/>
          </a:bodyPr>
          <a:lstStyle/>
          <a:p>
            <a:pPr algn="ctr">
              <a:defRPr sz="800" b="0">
                <a:solidFill>
                  <a:srgbClr val="475569"/>
                </a:solidFill>
                <a:latin typeface="Calibri"/>
              </a:defRPr>
            </a:pPr>
            <a:r>
              <a:t>6</a:t>
            </a:r>
          </a:p>
        </p:txBody>
      </p:sp>
      <p:sp>
        <p:nvSpPr>
          <p:cNvPr id="48" name="Oval 47"/>
          <p:cNvSpPr/>
          <p:nvPr/>
        </p:nvSpPr>
        <p:spPr>
          <a:xfrm>
            <a:off x="5232327" y="3607856"/>
            <a:ext cx="64008" cy="64008"/>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218611" y="4571999"/>
            <a:ext cx="91440" cy="182880"/>
          </a:xfrm>
          <a:prstGeom prst="rect">
            <a:avLst/>
          </a:prstGeom>
          <a:noFill/>
        </p:spPr>
        <p:txBody>
          <a:bodyPr wrap="none" anchor="ctr">
            <a:spAutoFit/>
          </a:bodyPr>
          <a:lstStyle/>
          <a:p>
            <a:pPr algn="ctr">
              <a:defRPr sz="800" b="0">
                <a:solidFill>
                  <a:srgbClr val="475569"/>
                </a:solidFill>
                <a:latin typeface="Calibri"/>
              </a:defRPr>
            </a:pPr>
            <a:r>
              <a:t>7</a:t>
            </a:r>
          </a:p>
        </p:txBody>
      </p:sp>
      <p:sp>
        <p:nvSpPr>
          <p:cNvPr id="50" name="Oval 49"/>
          <p:cNvSpPr/>
          <p:nvPr/>
        </p:nvSpPr>
        <p:spPr>
          <a:xfrm>
            <a:off x="5500116" y="4142414"/>
            <a:ext cx="64008" cy="64008"/>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486400" y="4571999"/>
            <a:ext cx="91440" cy="182880"/>
          </a:xfrm>
          <a:prstGeom prst="rect">
            <a:avLst/>
          </a:prstGeom>
          <a:noFill/>
        </p:spPr>
        <p:txBody>
          <a:bodyPr wrap="none" anchor="ctr">
            <a:spAutoFit/>
          </a:bodyPr>
          <a:lstStyle/>
          <a:p>
            <a:pPr algn="ctr">
              <a:defRPr sz="800" b="0">
                <a:solidFill>
                  <a:srgbClr val="475569"/>
                </a:solidFill>
                <a:latin typeface="Calibri"/>
              </a:defRPr>
            </a:pPr>
            <a:r>
              <a:t>8</a:t>
            </a:r>
          </a:p>
        </p:txBody>
      </p:sp>
      <p:sp>
        <p:nvSpPr>
          <p:cNvPr id="52" name="Rectangle 51"/>
          <p:cNvSpPr/>
          <p:nvPr/>
        </p:nvSpPr>
        <p:spPr>
          <a:xfrm>
            <a:off x="6172200" y="2331720"/>
            <a:ext cx="2423160" cy="2560320"/>
          </a:xfrm>
          <a:prstGeom prst="rect">
            <a:avLst/>
          </a:prstGeom>
          <a:solidFill>
            <a:srgbClr val="FFFFFF"/>
          </a:solidFill>
          <a:ln w="12700">
            <a:solidFill>
              <a:srgbClr val="8FA1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309360" y="2377439"/>
            <a:ext cx="2148840" cy="228600"/>
          </a:xfrm>
          <a:prstGeom prst="rect">
            <a:avLst/>
          </a:prstGeom>
          <a:noFill/>
        </p:spPr>
        <p:txBody>
          <a:bodyPr wrap="none" anchor="ctr">
            <a:spAutoFit/>
          </a:bodyPr>
          <a:lstStyle/>
          <a:p>
            <a:pPr algn="l">
              <a:defRPr sz="1100" b="1">
                <a:solidFill>
                  <a:srgbClr val="0F172A"/>
                </a:solidFill>
                <a:latin typeface="Calibri"/>
              </a:defRPr>
            </a:pPr>
            <a:r>
              <a:t>Pass / Fail Distribution</a:t>
            </a:r>
          </a:p>
        </p:txBody>
      </p:sp>
      <p:graphicFrame>
        <p:nvGraphicFramePr>
          <p:cNvPr id="54" name="Chart 53"/>
          <p:cNvGraphicFramePr>
            <a:graphicFrameLocks noGrp="1"/>
          </p:cNvGraphicFramePr>
          <p:nvPr>
            <p:extLst>
              <p:ext uri="{D42A27DB-BD31-4B8C-83A1-F6EECF244321}">
                <p14:modId xmlns:p14="http://schemas.microsoft.com/office/powerpoint/2010/main" val="3960482603"/>
              </p:ext>
            </p:extLst>
          </p:nvPr>
        </p:nvGraphicFramePr>
        <p:xfrm>
          <a:off x="6324600" y="2834639"/>
          <a:ext cx="2082020" cy="1828799"/>
        </p:xfrm>
        <a:graphic>
          <a:graphicData uri="http://schemas.openxmlformats.org/drawingml/2006/chart">
            <c:chart xmlns:c="http://schemas.openxmlformats.org/drawingml/2006/chart" xmlns:r="http://schemas.openxmlformats.org/officeDocument/2006/relationships" r:id="rId2"/>
          </a:graphicData>
        </a:graphic>
      </p:graphicFrame>
      <p:sp>
        <p:nvSpPr>
          <p:cNvPr id="55" name="TextBox 54"/>
          <p:cNvSpPr txBox="1"/>
          <p:nvPr/>
        </p:nvSpPr>
        <p:spPr>
          <a:xfrm>
            <a:off x="7223760" y="4434840"/>
            <a:ext cx="868680" cy="164592"/>
          </a:xfrm>
          <a:prstGeom prst="rect">
            <a:avLst/>
          </a:prstGeom>
          <a:noFill/>
        </p:spPr>
        <p:txBody>
          <a:bodyPr wrap="none" anchor="ctr">
            <a:spAutoFit/>
          </a:bodyPr>
          <a:lstStyle/>
          <a:p>
            <a:pPr algn="ctr">
              <a:defRPr sz="800" b="1">
                <a:solidFill>
                  <a:srgbClr val="1D4ED8"/>
                </a:solidFill>
                <a:latin typeface="Calibri"/>
              </a:defRPr>
            </a:pPr>
            <a:r>
              <a:t>Pass: 88.31%</a:t>
            </a:r>
          </a:p>
        </p:txBody>
      </p:sp>
      <p:sp>
        <p:nvSpPr>
          <p:cNvPr id="56" name="TextBox 55"/>
          <p:cNvSpPr txBox="1"/>
          <p:nvPr/>
        </p:nvSpPr>
        <p:spPr>
          <a:xfrm>
            <a:off x="7223760" y="4617720"/>
            <a:ext cx="868680" cy="164592"/>
          </a:xfrm>
          <a:prstGeom prst="rect">
            <a:avLst/>
          </a:prstGeom>
          <a:noFill/>
        </p:spPr>
        <p:txBody>
          <a:bodyPr wrap="none" anchor="ctr">
            <a:spAutoFit/>
          </a:bodyPr>
          <a:lstStyle/>
          <a:p>
            <a:pPr algn="ctr">
              <a:defRPr sz="800" b="1">
                <a:solidFill>
                  <a:srgbClr val="DC2626"/>
                </a:solidFill>
                <a:latin typeface="Calibri"/>
              </a:defRPr>
            </a:pPr>
            <a:r>
              <a:t>Fail: 11.69%</a:t>
            </a:r>
          </a:p>
        </p:txBody>
      </p:sp>
      <p:sp>
        <p:nvSpPr>
          <p:cNvPr id="57" name="TextBox 56"/>
          <p:cNvSpPr txBox="1"/>
          <p:nvPr/>
        </p:nvSpPr>
        <p:spPr>
          <a:xfrm>
            <a:off x="594360" y="5074920"/>
            <a:ext cx="7955279" cy="411480"/>
          </a:xfrm>
          <a:prstGeom prst="rect">
            <a:avLst/>
          </a:prstGeom>
          <a:noFill/>
        </p:spPr>
        <p:txBody>
          <a:bodyPr wrap="none" anchor="ctr">
            <a:spAutoFit/>
          </a:bodyPr>
          <a:lstStyle/>
          <a:p>
            <a:pPr algn="ctr">
              <a:defRPr sz="1200" b="1">
                <a:solidFill>
                  <a:srgbClr val="0F7678"/>
                </a:solidFill>
                <a:latin typeface="Calibri"/>
              </a:defRPr>
            </a:pPr>
            <a:r>
              <a:t>Key finding: Attendance and marks showed a moderate positive relationship in the synthetic dataset (correlation = 0.631).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59F68-BEA2-7D83-83CC-DB2FA3DB80A7}"/>
              </a:ext>
            </a:extLst>
          </p:cNvPr>
          <p:cNvSpPr>
            <a:spLocks noGrp="1"/>
          </p:cNvSpPr>
          <p:nvPr>
            <p:ph type="title"/>
          </p:nvPr>
        </p:nvSpPr>
        <p:spPr/>
        <p:txBody>
          <a:bodyPr>
            <a:normAutofit/>
          </a:bodyPr>
          <a:lstStyle/>
          <a:p>
            <a:pPr algn="ctr"/>
            <a:r>
              <a:rPr sz="3400">
                <a:solidFill>
                  <a:srgbClr val="000000"/>
                </a:solidFill>
                <a:latin typeface="Calibri"/>
              </a:rPr>
              <a:t>CONCLUSION</a:t>
            </a:r>
          </a:p>
        </p:txBody>
      </p:sp>
      <p:sp>
        <p:nvSpPr>
          <p:cNvPr id="5" name="Footer Placeholder 4">
            <a:extLst>
              <a:ext uri="{FF2B5EF4-FFF2-40B4-BE49-F238E27FC236}">
                <a16:creationId xmlns:a16="http://schemas.microsoft.com/office/drawing/2014/main" id="{397B7C33-DB32-8A92-0FB9-94A237F8119B}"/>
              </a:ext>
            </a:extLst>
          </p:cNvPr>
          <p:cNvSpPr>
            <a:spLocks noGrp="1"/>
          </p:cNvSpPr>
          <p:nvPr>
            <p:ph type="ftr" sz="quarter" idx="11"/>
          </p:nvPr>
        </p:nvSpPr>
        <p:spPr/>
        <p:txBody>
          <a:bodyPr/>
          <a:lstStyle/>
          <a:p>
            <a:pPr algn="ctr"/>
            <a:r>
              <a:rPr sz="1000">
                <a:solidFill>
                  <a:srgbClr val="808080"/>
                </a:solidFill>
                <a:latin typeface="Arial"/>
              </a:rPr>
              <a:t>School of Computing - CSE</a:t>
            </a:r>
            <a:endParaRPr lang="en-US" dirty="0"/>
          </a:p>
        </p:txBody>
      </p:sp>
      <p:sp>
        <p:nvSpPr>
          <p:cNvPr id="6" name="Slide Number Placeholder 5">
            <a:extLst>
              <a:ext uri="{FF2B5EF4-FFF2-40B4-BE49-F238E27FC236}">
                <a16:creationId xmlns:a16="http://schemas.microsoft.com/office/drawing/2014/main" id="{BACB38E7-C314-D639-6C8E-0B5C6D5174D1}"/>
              </a:ext>
            </a:extLst>
          </p:cNvPr>
          <p:cNvSpPr>
            <a:spLocks noGrp="1"/>
          </p:cNvSpPr>
          <p:nvPr>
            <p:ph type="sldNum" sz="quarter" idx="12"/>
          </p:nvPr>
        </p:nvSpPr>
        <p:spPr/>
        <p:txBody>
          <a:bodyPr/>
          <a:lstStyle/>
          <a:p>
            <a:pPr algn="r"/>
            <a:r>
              <a:rPr sz="1000">
                <a:solidFill>
                  <a:srgbClr val="808080"/>
                </a:solidFill>
                <a:latin typeface="Arial"/>
              </a:rPr>
              <a:t>11</a:t>
            </a:r>
            <a:endParaRPr lang="en-US" dirty="0"/>
          </a:p>
        </p:txBody>
      </p:sp>
      <p:sp>
        <p:nvSpPr>
          <p:cNvPr id="4" name="Content Placeholder 3"/>
          <p:cNvSpPr>
            <a:spLocks noGrp="1"/>
          </p:cNvSpPr>
          <p:nvPr>
            <p:ph idx="1"/>
          </p:nvPr>
        </p:nvSpPr>
        <p:spPr>
          <a:xfrm>
            <a:off x="502920" y="1463040"/>
            <a:ext cx="4572000" cy="4297680"/>
          </a:xfrm>
        </p:spPr>
        <p:txBody>
          <a:bodyPr lIns="45720" rIns="45720" anchor="t">
            <a:normAutofit/>
          </a:bodyPr>
          <a:lstStyle/>
          <a:p>
            <a:pPr algn="l">
              <a:buChar char="•"/>
              <a:defRPr sz="1700">
                <a:solidFill>
                  <a:srgbClr val="000000"/>
                </a:solidFill>
                <a:latin typeface="Calibri"/>
              </a:defRPr>
            </a:pPr>
            <a:r>
              <a:rPr sz="2000" dirty="0"/>
              <a:t>The project converts raw academic data into meaningful insights for academic monitoring.</a:t>
            </a:r>
            <a:endParaRPr lang="en-US" sz="2000" dirty="0"/>
          </a:p>
          <a:p>
            <a:pPr>
              <a:buChar char="•"/>
              <a:defRPr sz="1700">
                <a:solidFill>
                  <a:srgbClr val="000000"/>
                </a:solidFill>
                <a:latin typeface="Calibri"/>
              </a:defRPr>
            </a:pPr>
            <a:r>
              <a:rPr sz="2000" dirty="0"/>
              <a:t>Python, SQL and Power BI were integrated into a complete analytics workflow.</a:t>
            </a:r>
          </a:p>
          <a:p>
            <a:pPr>
              <a:buChar char="•"/>
              <a:defRPr sz="1700">
                <a:solidFill>
                  <a:srgbClr val="000000"/>
                </a:solidFill>
                <a:latin typeface="Calibri"/>
              </a:defRPr>
            </a:pPr>
            <a:r>
              <a:rPr sz="2000" dirty="0"/>
              <a:t>The dashboard supports quick review of performance, attendance, backlogs and top students.</a:t>
            </a:r>
          </a:p>
          <a:p>
            <a:pPr>
              <a:buChar char="•"/>
              <a:defRPr sz="1700">
                <a:solidFill>
                  <a:srgbClr val="000000"/>
                </a:solidFill>
                <a:latin typeface="Calibri"/>
              </a:defRPr>
            </a:pPr>
            <a:r>
              <a:rPr sz="2000" dirty="0"/>
              <a:t>The system can be extended using real-time data and predictive analytics.</a:t>
            </a:r>
          </a:p>
        </p:txBody>
      </p:sp>
      <p:sp>
        <p:nvSpPr>
          <p:cNvPr id="7" name="Rounded Rectangle 6"/>
          <p:cNvSpPr/>
          <p:nvPr/>
        </p:nvSpPr>
        <p:spPr>
          <a:xfrm>
            <a:off x="5532120" y="1691640"/>
            <a:ext cx="2560320" cy="548640"/>
          </a:xfrm>
          <a:prstGeom prst="roundRect">
            <a:avLst/>
          </a:prstGeom>
          <a:solidFill>
            <a:srgbClr val="DBEA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172A"/>
                </a:solidFill>
                <a:latin typeface="Calibri"/>
              </a:defRPr>
            </a:pPr>
            <a:r>
              <a:t>Clean Data</a:t>
            </a:r>
          </a:p>
        </p:txBody>
      </p:sp>
      <p:sp>
        <p:nvSpPr>
          <p:cNvPr id="8" name="Rounded Rectangle 7"/>
          <p:cNvSpPr/>
          <p:nvPr/>
        </p:nvSpPr>
        <p:spPr>
          <a:xfrm>
            <a:off x="5532120" y="2606040"/>
            <a:ext cx="2560320" cy="548640"/>
          </a:xfrm>
          <a:prstGeom prst="roundRect">
            <a:avLst/>
          </a:prstGeom>
          <a:solidFill>
            <a:srgbClr val="FEF3C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172A"/>
                </a:solidFill>
                <a:latin typeface="Calibri"/>
              </a:defRPr>
            </a:pPr>
            <a:r>
              <a:t>Reliable Analysis</a:t>
            </a:r>
          </a:p>
        </p:txBody>
      </p:sp>
      <p:sp>
        <p:nvSpPr>
          <p:cNvPr id="9" name="Rounded Rectangle 8"/>
          <p:cNvSpPr/>
          <p:nvPr/>
        </p:nvSpPr>
        <p:spPr>
          <a:xfrm>
            <a:off x="5532120" y="3520440"/>
            <a:ext cx="2560320" cy="548640"/>
          </a:xfrm>
          <a:prstGeom prst="roundRect">
            <a:avLst/>
          </a:prstGeom>
          <a:solidFill>
            <a:srgbClr val="DCFCE7"/>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172A"/>
                </a:solidFill>
                <a:latin typeface="Calibri"/>
              </a:defRPr>
            </a:pPr>
            <a:r>
              <a:t>Interactive Dashboard</a:t>
            </a:r>
          </a:p>
        </p:txBody>
      </p:sp>
      <p:sp>
        <p:nvSpPr>
          <p:cNvPr id="10" name="Rounded Rectangle 9"/>
          <p:cNvSpPr/>
          <p:nvPr/>
        </p:nvSpPr>
        <p:spPr>
          <a:xfrm>
            <a:off x="5532120" y="4434840"/>
            <a:ext cx="2560320" cy="548640"/>
          </a:xfrm>
          <a:prstGeom prst="roundRect">
            <a:avLst/>
          </a:prstGeom>
          <a:solidFill>
            <a:srgbClr val="E0F2FE"/>
          </a:solidFill>
          <a:ln w="19050">
            <a:solidFill>
              <a:srgbClr val="0F767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172A"/>
                </a:solidFill>
                <a:latin typeface="Calibri"/>
              </a:defRPr>
            </a:pPr>
            <a:r>
              <a:t>Academic Insights</a:t>
            </a:r>
          </a:p>
        </p:txBody>
      </p:sp>
      <p:cxnSp>
        <p:nvCxnSpPr>
          <p:cNvPr id="11" name="Connector 10"/>
          <p:cNvCxnSpPr/>
          <p:nvPr/>
        </p:nvCxnSpPr>
        <p:spPr>
          <a:xfrm>
            <a:off x="6812280" y="2240280"/>
            <a:ext cx="0" cy="320040"/>
          </a:xfrm>
          <a:prstGeom prst="line">
            <a:avLst/>
          </a:prstGeom>
          <a:ln w="2540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812280" y="3154680"/>
            <a:ext cx="0" cy="32004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812280" y="4069080"/>
            <a:ext cx="0" cy="320040"/>
          </a:xfrm>
          <a:prstGeom prst="line">
            <a:avLst/>
          </a:prstGeom>
          <a:ln w="25400">
            <a:solidFill>
              <a:srgbClr val="16A34A"/>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59F68-BEA2-7D83-83CC-DB2FA3DB80A7}"/>
              </a:ext>
            </a:extLst>
          </p:cNvPr>
          <p:cNvSpPr>
            <a:spLocks noGrp="1"/>
          </p:cNvSpPr>
          <p:nvPr>
            <p:ph type="title"/>
          </p:nvPr>
        </p:nvSpPr>
        <p:spPr/>
        <p:txBody>
          <a:bodyPr>
            <a:normAutofit/>
          </a:bodyPr>
          <a:lstStyle/>
          <a:p>
            <a:pPr algn="ctr"/>
            <a:r>
              <a:rPr sz="3400">
                <a:solidFill>
                  <a:srgbClr val="000000"/>
                </a:solidFill>
                <a:latin typeface="Calibri"/>
              </a:rPr>
              <a:t>REFERENCES</a:t>
            </a:r>
          </a:p>
        </p:txBody>
      </p:sp>
      <p:sp>
        <p:nvSpPr>
          <p:cNvPr id="5" name="Footer Placeholder 4">
            <a:extLst>
              <a:ext uri="{FF2B5EF4-FFF2-40B4-BE49-F238E27FC236}">
                <a16:creationId xmlns:a16="http://schemas.microsoft.com/office/drawing/2014/main" id="{397B7C33-DB32-8A92-0FB9-94A237F8119B}"/>
              </a:ext>
            </a:extLst>
          </p:cNvPr>
          <p:cNvSpPr>
            <a:spLocks noGrp="1"/>
          </p:cNvSpPr>
          <p:nvPr>
            <p:ph type="ftr" sz="quarter" idx="11"/>
          </p:nvPr>
        </p:nvSpPr>
        <p:spPr/>
        <p:txBody>
          <a:bodyPr/>
          <a:lstStyle/>
          <a:p>
            <a:pPr algn="ctr"/>
            <a:r>
              <a:rPr sz="1000">
                <a:solidFill>
                  <a:srgbClr val="808080"/>
                </a:solidFill>
                <a:latin typeface="Arial"/>
              </a:rPr>
              <a:t>School of Computing - CSE</a:t>
            </a:r>
            <a:endParaRPr lang="en-US" dirty="0"/>
          </a:p>
        </p:txBody>
      </p:sp>
      <p:sp>
        <p:nvSpPr>
          <p:cNvPr id="6" name="Slide Number Placeholder 5">
            <a:extLst>
              <a:ext uri="{FF2B5EF4-FFF2-40B4-BE49-F238E27FC236}">
                <a16:creationId xmlns:a16="http://schemas.microsoft.com/office/drawing/2014/main" id="{BACB38E7-C314-D639-6C8E-0B5C6D5174D1}"/>
              </a:ext>
            </a:extLst>
          </p:cNvPr>
          <p:cNvSpPr>
            <a:spLocks noGrp="1"/>
          </p:cNvSpPr>
          <p:nvPr>
            <p:ph type="sldNum" sz="quarter" idx="12"/>
          </p:nvPr>
        </p:nvSpPr>
        <p:spPr/>
        <p:txBody>
          <a:bodyPr/>
          <a:lstStyle/>
          <a:p>
            <a:pPr algn="r"/>
            <a:r>
              <a:rPr sz="1000">
                <a:solidFill>
                  <a:srgbClr val="808080"/>
                </a:solidFill>
                <a:latin typeface="Arial"/>
              </a:rPr>
              <a:t>12</a:t>
            </a:r>
            <a:endParaRPr lang="en-US" dirty="0"/>
          </a:p>
        </p:txBody>
      </p:sp>
      <p:sp>
        <p:nvSpPr>
          <p:cNvPr id="4" name="Content Placeholder 3"/>
          <p:cNvSpPr>
            <a:spLocks noGrp="1"/>
          </p:cNvSpPr>
          <p:nvPr>
            <p:ph idx="1"/>
          </p:nvPr>
        </p:nvSpPr>
        <p:spPr>
          <a:xfrm>
            <a:off x="502920" y="1463040"/>
            <a:ext cx="8046720" cy="4754880"/>
          </a:xfrm>
        </p:spPr>
        <p:txBody>
          <a:bodyPr anchor="t">
            <a:normAutofit/>
          </a:bodyPr>
          <a:lstStyle/>
          <a:p>
            <a:pPr algn="l">
              <a:spcAft>
                <a:spcPts val="800"/>
              </a:spcAft>
              <a:defRPr sz="1400">
                <a:solidFill>
                  <a:srgbClr val="000000"/>
                </a:solidFill>
                <a:latin typeface="Calibri"/>
              </a:defRPr>
            </a:pPr>
            <a:r>
              <a:rPr sz="2000" dirty="0"/>
              <a:t>[1] Alberto Ferrari and Marco Russo, Analyzing Data with Power BI and Power Pivot for Excel, Microsoft Press, 2017.</a:t>
            </a:r>
            <a:endParaRPr lang="en-US" sz="2000" dirty="0"/>
          </a:p>
          <a:p>
            <a:pPr>
              <a:spcAft>
                <a:spcPts val="800"/>
              </a:spcAft>
              <a:defRPr sz="1400">
                <a:solidFill>
                  <a:srgbClr val="000000"/>
                </a:solidFill>
                <a:latin typeface="Calibri"/>
              </a:defRPr>
            </a:pPr>
            <a:r>
              <a:rPr sz="2000" dirty="0"/>
              <a:t>[2] Wes McKinney, Python for Data Analysis: Data Wrangling with pandas, NumPy, and Jupyter, 3rd Edition, O’Reilly Media, 2022.</a:t>
            </a:r>
          </a:p>
          <a:p>
            <a:pPr>
              <a:spcAft>
                <a:spcPts val="800"/>
              </a:spcAft>
              <a:defRPr sz="1400">
                <a:solidFill>
                  <a:srgbClr val="000000"/>
                </a:solidFill>
                <a:latin typeface="Calibri"/>
              </a:defRPr>
            </a:pPr>
            <a:r>
              <a:rPr sz="2000" dirty="0"/>
              <a:t>[3] Abraham Silberschatz, Henry F. Korth and S. Sudarshan, Database System Concepts, 7th Edition, McGraw-Hill Education, 2019.</a:t>
            </a:r>
          </a:p>
          <a:p>
            <a:pPr>
              <a:spcAft>
                <a:spcPts val="800"/>
              </a:spcAft>
              <a:defRPr sz="1400">
                <a:solidFill>
                  <a:srgbClr val="000000"/>
                </a:solidFill>
                <a:latin typeface="Calibri"/>
              </a:defRPr>
            </a:pPr>
            <a:r>
              <a:rPr sz="2000" dirty="0"/>
              <a:t>[4] Claus O. Wilke, Fundamentals of Data Visualization: A Primer on Making Informative and Compelling Figures, O’Reilly Media, 2019.</a:t>
            </a:r>
          </a:p>
          <a:p>
            <a:pPr>
              <a:spcAft>
                <a:spcPts val="800"/>
              </a:spcAft>
              <a:defRPr sz="1400">
                <a:solidFill>
                  <a:srgbClr val="000000"/>
                </a:solidFill>
                <a:latin typeface="Calibri"/>
              </a:defRPr>
            </a:pPr>
            <a:r>
              <a:rPr sz="2000" dirty="0"/>
              <a:t>[5] Foster Provost and Tom Fawcett, Data Science for Business: What You Need to Know about Data Mining and Data-Analytic Thinking, O’Reilly Media, 2013.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59F68-BEA2-7D83-83CC-DB2FA3DB80A7}"/>
              </a:ext>
            </a:extLst>
          </p:cNvPr>
          <p:cNvSpPr>
            <a:spLocks noGrp="1"/>
          </p:cNvSpPr>
          <p:nvPr>
            <p:ph type="title"/>
          </p:nvPr>
        </p:nvSpPr>
        <p:spPr/>
        <p:txBody>
          <a:bodyPr>
            <a:normAutofit/>
          </a:bodyPr>
          <a:lstStyle/>
          <a:p>
            <a:pPr algn="ctr"/>
            <a:r>
              <a:rPr sz="3400">
                <a:solidFill>
                  <a:srgbClr val="000000"/>
                </a:solidFill>
                <a:latin typeface="Arial"/>
              </a:rPr>
              <a:t>THANK YOU</a:t>
            </a:r>
          </a:p>
        </p:txBody>
      </p:sp>
      <p:sp>
        <p:nvSpPr>
          <p:cNvPr id="5" name="Footer Placeholder 4">
            <a:extLst>
              <a:ext uri="{FF2B5EF4-FFF2-40B4-BE49-F238E27FC236}">
                <a16:creationId xmlns:a16="http://schemas.microsoft.com/office/drawing/2014/main" id="{397B7C33-DB32-8A92-0FB9-94A237F8119B}"/>
              </a:ext>
            </a:extLst>
          </p:cNvPr>
          <p:cNvSpPr>
            <a:spLocks noGrp="1"/>
          </p:cNvSpPr>
          <p:nvPr>
            <p:ph type="ftr" sz="quarter" idx="11"/>
          </p:nvPr>
        </p:nvSpPr>
        <p:spPr/>
        <p:txBody>
          <a:bodyPr/>
          <a:lstStyle/>
          <a:p>
            <a:pPr algn="ctr"/>
            <a:r>
              <a:rPr sz="1000">
                <a:solidFill>
                  <a:srgbClr val="808080"/>
                </a:solidFill>
                <a:latin typeface="Arial"/>
              </a:rPr>
              <a:t>School of Computing - CSE</a:t>
            </a:r>
            <a:endParaRPr lang="en-US" dirty="0"/>
          </a:p>
        </p:txBody>
      </p:sp>
      <p:sp>
        <p:nvSpPr>
          <p:cNvPr id="6" name="Slide Number Placeholder 5">
            <a:extLst>
              <a:ext uri="{FF2B5EF4-FFF2-40B4-BE49-F238E27FC236}">
                <a16:creationId xmlns:a16="http://schemas.microsoft.com/office/drawing/2014/main" id="{BACB38E7-C314-D639-6C8E-0B5C6D5174D1}"/>
              </a:ext>
            </a:extLst>
          </p:cNvPr>
          <p:cNvSpPr>
            <a:spLocks noGrp="1"/>
          </p:cNvSpPr>
          <p:nvPr>
            <p:ph type="sldNum" sz="quarter" idx="12"/>
          </p:nvPr>
        </p:nvSpPr>
        <p:spPr/>
        <p:txBody>
          <a:bodyPr/>
          <a:lstStyle/>
          <a:p>
            <a:pPr algn="r"/>
            <a:r>
              <a:rPr sz="1000">
                <a:solidFill>
                  <a:srgbClr val="808080"/>
                </a:solidFill>
                <a:latin typeface="Arial"/>
              </a:rPr>
              <a:t>13</a:t>
            </a:r>
            <a:endParaRPr lang="en-US" dirty="0"/>
          </a:p>
        </p:txBody>
      </p:sp>
      <p:sp>
        <p:nvSpPr>
          <p:cNvPr id="4" name="Content Placeholder 3"/>
          <p:cNvSpPr>
            <a:spLocks noGrp="1"/>
          </p:cNvSpPr>
          <p:nvPr>
            <p:ph idx="1"/>
          </p:nvPr>
        </p:nvSpPr>
        <p:spPr>
          <a:xfrm>
            <a:off x="457200" y="2255837"/>
            <a:ext cx="8229600" cy="4525963"/>
          </a:xfrm>
        </p:spPr>
        <p:txBody>
          <a:bodyPr/>
          <a:lstStyle/>
          <a:p>
            <a:pPr marL="0" indent="0" algn="just">
              <a:buNone/>
            </a:pPr>
            <a:r>
              <a:rPr lang="en-US" dirty="0">
                <a:solidFill>
                  <a:srgbClr val="000000"/>
                </a:solidFill>
                <a:latin typeface="Arial"/>
              </a:rPr>
              <a:t>We thank God, Our Department, Guides, Panel Members, Supportive Professors and all Technical and Non-Technical staff who helped us in our Project.</a:t>
            </a:r>
          </a:p>
          <a:p>
            <a:pPr marL="0" indent="0">
              <a:buNone/>
            </a:pPr>
            <a:endParaRPr lang="en-US" dirty="0"/>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6249</TotalTime>
  <Words>804</Words>
  <Application>Microsoft Office PowerPoint</Application>
  <PresentationFormat>On-screen Show (4:3)</PresentationFormat>
  <Paragraphs>148</Paragraphs>
  <Slides>13</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Custom Design</vt:lpstr>
      <vt:lpstr>  </vt:lpstr>
      <vt:lpstr>AGENDA</vt:lpstr>
      <vt:lpstr>COURSE CERTIFICATE - 1</vt:lpstr>
      <vt:lpstr>COURSE CERTIFICATE - 2</vt:lpstr>
      <vt:lpstr>ABSTRACT</vt:lpstr>
      <vt:lpstr>INTRODUCTION</vt:lpstr>
      <vt:lpstr>OBJECTIVE</vt:lpstr>
      <vt:lpstr>SYSTEM ARCHITECTURE / IDEATION MAP</vt:lpstr>
      <vt:lpstr>MODULE IMPLEMENTATION</vt:lpstr>
      <vt:lpstr>RESULTS AND DISCUSSIONS</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Windows User</dc:creator>
  <cp:lastModifiedBy>RAKSHANA FATHIMA HASAN</cp:lastModifiedBy>
  <cp:revision>121</cp:revision>
  <dcterms:created xsi:type="dcterms:W3CDTF">2019-11-06T07:48:53Z</dcterms:created>
  <dcterms:modified xsi:type="dcterms:W3CDTF">2026-09-17T17:12:30Z</dcterms:modified>
</cp:coreProperties>
</file>