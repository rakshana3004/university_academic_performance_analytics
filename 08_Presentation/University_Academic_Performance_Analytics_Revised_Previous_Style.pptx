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handoutMasterIdLst>
    <p:handoutMasterId r:id="rId16"/>
  </p:handoutMasterIdLst>
  <p:sldIdLst>
    <p:sldId id="275" r:id="rId2"/>
    <p:sldId id="388" r:id="rId3"/>
    <p:sldId id="390" r:id="rId4"/>
    <p:sldId id="391" r:id="rId5"/>
    <p:sldId id="392" r:id="rId6"/>
    <p:sldId id="393" r:id="rId7"/>
    <p:sldId id="394" r:id="rId8"/>
    <p:sldId id="395" r:id="rId9"/>
    <p:sldId id="396" r:id="rId10"/>
    <p:sldId id="397" r:id="rId11"/>
    <p:sldId id="398" r:id="rId12"/>
    <p:sldId id="399" r:id="rId13"/>
    <p:sldId id="40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74" d="100"/>
          <a:sy n="74" d="100"/>
        </p:scale>
        <p:origin x="197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overlay val="0"/>
    </c:title>
    <c:autoTitleDeleted val="0"/>
    <c:plotArea>
      <c:layout/>
      <c:doughnutChart>
        <c:varyColors val="1"/>
        <c:ser>
          <c:idx val="0"/>
          <c:order val="0"/>
          <c:tx>
            <c:strRef>
              <c:f>Sheet1!$B$1</c:f>
              <c:strCache>
                <c:ptCount val="1"/>
                <c:pt idx="0">
                  <c:v>Result</c:v>
                </c:pt>
              </c:strCache>
            </c:strRef>
          </c:tx>
          <c:dPt>
            <c:idx val="0"/>
            <c:bubble3D val="0"/>
            <c:spPr>
              <a:solidFill>
                <a:srgbClr val="1D4ED8"/>
              </a:solidFill>
            </c:spPr>
            <c:extLst>
              <c:ext xmlns:c16="http://schemas.microsoft.com/office/drawing/2014/chart" uri="{C3380CC4-5D6E-409C-BE32-E72D297353CC}">
                <c16:uniqueId val="{00000001-891B-41BD-9BDA-45803BBBDE1F}"/>
              </c:ext>
            </c:extLst>
          </c:dPt>
          <c:dPt>
            <c:idx val="1"/>
            <c:bubble3D val="0"/>
            <c:spPr>
              <a:solidFill>
                <a:srgbClr val="DC2626"/>
              </a:solidFill>
            </c:spPr>
            <c:extLst>
              <c:ext xmlns:c16="http://schemas.microsoft.com/office/drawing/2014/chart" uri="{C3380CC4-5D6E-409C-BE32-E72D297353CC}">
                <c16:uniqueId val="{00000003-891B-41BD-9BDA-45803BBBDE1F}"/>
              </c:ext>
            </c:extLst>
          </c:dPt>
          <c:cat>
            <c:strRef>
              <c:f>Sheet1!$A$2:$A$3</c:f>
              <c:strCache>
                <c:ptCount val="2"/>
                <c:pt idx="0">
                  <c:v>Pass</c:v>
                </c:pt>
                <c:pt idx="1">
                  <c:v>Fail</c:v>
                </c:pt>
              </c:strCache>
            </c:strRef>
          </c:cat>
          <c:val>
            <c:numRef>
              <c:f>Sheet1!$B$2:$B$3</c:f>
              <c:numCache>
                <c:formatCode>General</c:formatCode>
                <c:ptCount val="2"/>
                <c:pt idx="0">
                  <c:v>14130</c:v>
                </c:pt>
                <c:pt idx="1">
                  <c:v>1870</c:v>
                </c:pt>
              </c:numCache>
            </c:numRef>
          </c:val>
          <c:extLst>
            <c:ext xmlns:c16="http://schemas.microsoft.com/office/drawing/2014/chart" uri="{C3380CC4-5D6E-409C-BE32-E72D297353CC}">
              <c16:uniqueId val="{00000004-891B-41BD-9BDA-45803BBBDE1F}"/>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28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28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28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28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28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28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28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28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28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28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28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28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28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34191"/>
            <a:ext cx="6709143" cy="885409"/>
          </a:xfrm>
        </p:spPr>
        <p:txBody>
          <a:bodyPr>
            <a:normAutofit fontScale="92500" lnSpcReduction="20000"/>
          </a:bodyPr>
          <a:lstStyle/>
          <a:p>
            <a:pPr algn="ctr"/>
            <a:r>
              <a:rPr sz="3000" b="1" dirty="0">
                <a:solidFill>
                  <a:srgbClr val="006080"/>
                </a:solidFill>
                <a:latin typeface="Arial"/>
              </a:rPr>
              <a:t>UNIVERSITY ACADEMIC</a:t>
            </a:r>
            <a:endParaRPr lang="en-US" sz="5700" dirty="0">
              <a:solidFill>
                <a:srgbClr val="7030A0"/>
              </a:solidFill>
              <a:latin typeface="Arial" pitchFamily="34" charset="0"/>
              <a:cs typeface="Arial" pitchFamily="34" charset="0"/>
            </a:endParaRPr>
          </a:p>
          <a:p>
            <a:pPr algn="ctr"/>
            <a:r>
              <a:rPr sz="3000" b="1" dirty="0">
                <a:solidFill>
                  <a:srgbClr val="006080"/>
                </a:solidFill>
                <a:latin typeface="Arial"/>
              </a:rPr>
              <a:t>PERFORMANCE ANALYTICS</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pPr algn="l"/>
            <a:r>
              <a:rPr sz="1000">
                <a:solidFill>
                  <a:srgbClr val="808080"/>
                </a:solidFill>
                <a:latin typeface="Arial"/>
              </a:rPr>
              <a:t>14 September 2026</a:t>
            </a:r>
            <a:endParaRPr lang="en-US" dirty="0"/>
          </a:p>
        </p:txBody>
      </p:sp>
      <p:sp>
        <p:nvSpPr>
          <p:cNvPr id="6" name="Footer Placeholder 5"/>
          <p:cNvSpPr>
            <a:spLocks noGrp="1"/>
          </p:cNvSpPr>
          <p:nvPr>
            <p:ph type="ftr" sz="quarter" idx="11"/>
          </p:nvPr>
        </p:nvSpPr>
        <p:spPr/>
        <p:txBody>
          <a:bodyPr/>
          <a:lstStyle/>
          <a:p>
            <a:pPr algn="ctr"/>
            <a:r>
              <a:rPr sz="1000">
                <a:solidFill>
                  <a:srgbClr val="808080"/>
                </a:solidFill>
                <a:latin typeface="Arial"/>
              </a:rPr>
              <a:t>School of Computing - CSE</a:t>
            </a:r>
          </a:p>
        </p:txBody>
      </p:sp>
      <p:sp>
        <p:nvSpPr>
          <p:cNvPr id="5" name="Slide Number Placeholder 4"/>
          <p:cNvSpPr>
            <a:spLocks noGrp="1"/>
          </p:cNvSpPr>
          <p:nvPr>
            <p:ph type="sldNum" sz="quarter" idx="12"/>
          </p:nvPr>
        </p:nvSpPr>
        <p:spPr/>
        <p:txBody>
          <a:bodyPr/>
          <a:lstStyle/>
          <a:p>
            <a:pPr algn="r"/>
            <a:r>
              <a:rPr sz="1000">
                <a:solidFill>
                  <a:srgbClr val="808080"/>
                </a:solidFill>
                <a:latin typeface="Arial"/>
              </a:rPr>
              <a:t>1</a:t>
            </a:r>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42898" y="2245640"/>
            <a:ext cx="8610599" cy="1292662"/>
          </a:xfrm>
          <a:prstGeom prst="rect">
            <a:avLst/>
          </a:prstGeom>
          <a:noFill/>
        </p:spPr>
        <p:txBody>
          <a:bodyPr wrap="square">
            <a:spAutoFit/>
          </a:bodyPr>
          <a:lstStyle/>
          <a:p>
            <a:pPr algn="ctr"/>
            <a:r>
              <a:rPr sz="2000" b="1">
                <a:solidFill>
                  <a:srgbClr val="000000"/>
                </a:solidFill>
                <a:latin typeface="Arial"/>
              </a:rPr>
              <a:t>DEPARTMENT OF COMPUTER SCIENCE AND ENGINEERING</a:t>
            </a:r>
            <a:endParaRPr lang="en-IN" sz="2000" b="1" dirty="0">
              <a:latin typeface="Arial" panose="020B0604020202020204" pitchFamily="34" charset="0"/>
              <a:cs typeface="Arial" panose="020B0604020202020204" pitchFamily="34" charset="0"/>
            </a:endParaRPr>
          </a:p>
          <a:p>
            <a:pPr algn="ctr"/>
            <a:endParaRPr lang="en-IN" sz="2000" b="1" dirty="0">
              <a:latin typeface="Arial" panose="020B0604020202020204" pitchFamily="34" charset="0"/>
              <a:cs typeface="Arial" panose="020B0604020202020204" pitchFamily="34" charset="0"/>
            </a:endParaRPr>
          </a:p>
          <a:p>
            <a:pPr algn="ctr"/>
            <a:r>
              <a:rPr sz="2000" b="1">
                <a:solidFill>
                  <a:srgbClr val="000000"/>
                </a:solidFill>
                <a:latin typeface="Arial"/>
              </a:rPr>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sz="1800" b="1" dirty="0">
                <a:solidFill>
                  <a:srgbClr val="000000"/>
                </a:solidFill>
                <a:latin typeface="Arial"/>
              </a:rPr>
              <a:t>PROJECT STUDENTS                                                  GUI</a:t>
            </a:r>
            <a:r>
              <a:rPr lang="en-IN" sz="1800" b="1" dirty="0">
                <a:solidFill>
                  <a:srgbClr val="000000"/>
                </a:solidFill>
                <a:latin typeface="Arial"/>
              </a:rPr>
              <a:t>DE</a:t>
            </a:r>
          </a:p>
          <a:p>
            <a:pPr algn="l"/>
            <a:r>
              <a:rPr lang="en-IN" sz="1800" b="1" dirty="0">
                <a:solidFill>
                  <a:srgbClr val="000000"/>
                </a:solidFill>
                <a:latin typeface="Arial"/>
              </a:rPr>
              <a:t>Rakshana Fathima M, 44110995                           Ms. </a:t>
            </a:r>
            <a:r>
              <a:rPr lang="en-IN" sz="1800" b="1" dirty="0" err="1">
                <a:solidFill>
                  <a:srgbClr val="000000"/>
                </a:solidFill>
                <a:latin typeface="Arial"/>
              </a:rPr>
              <a:t>Revathi.K</a:t>
            </a:r>
            <a:endParaRPr lang="en-IN" sz="1800" b="1" dirty="0">
              <a:solidFill>
                <a:srgbClr val="000000"/>
              </a:solidFill>
              <a:latin typeface="Arial"/>
            </a:endParaRPr>
          </a:p>
          <a:p>
            <a:pPr algn="l"/>
            <a:r>
              <a:rPr sz="1800" b="1" dirty="0">
                <a:solidFill>
                  <a:srgbClr val="000000"/>
                </a:solidFill>
                <a:latin typeface="Arial"/>
              </a:rPr>
              <a:t>Vijaya Vignesh S, 44111024                         </a:t>
            </a:r>
            <a:r>
              <a:rPr lang="en-IN" sz="1800" b="1" dirty="0">
                <a:solidFill>
                  <a:srgbClr val="000000"/>
                </a:solidFill>
                <a:latin typeface="Arial"/>
              </a:rPr>
              <a:t>         </a:t>
            </a:r>
            <a:r>
              <a:rPr sz="1800" b="1" dirty="0">
                <a:solidFill>
                  <a:srgbClr val="000000"/>
                </a:solidFill>
                <a:latin typeface="Arial"/>
              </a:rPr>
              <a:t>Dr. V. </a:t>
            </a:r>
            <a:r>
              <a:rPr sz="1800" b="1" dirty="0" err="1">
                <a:solidFill>
                  <a:srgbClr val="000000"/>
                </a:solidFill>
                <a:latin typeface="Arial"/>
              </a:rPr>
              <a:t>Ulagamuthalvi</a:t>
            </a:r>
            <a:endParaRPr sz="1800" b="1" dirty="0">
              <a:solidFill>
                <a:srgbClr val="000000"/>
              </a:solidFill>
              <a:latin typeface="Aria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lIns="45720" rIns="45720" anchor="t">
            <a:normAutofit fontScale="92500" lnSpcReduction="20000"/>
          </a:bodyPr>
          <a:lstStyle/>
          <a:p>
            <a:pPr algn="l">
              <a:spcAft>
                <a:spcPts val="800"/>
              </a:spcAft>
            </a:pPr>
            <a:r>
              <a:rPr sz="2700">
                <a:solidFill>
                  <a:srgbClr val="000000"/>
                </a:solidFill>
                <a:latin typeface="Arial"/>
              </a:rPr>
              <a:t>Certificate</a:t>
            </a:r>
          </a:p>
          <a:p>
            <a:pPr algn="l">
              <a:spcAft>
                <a:spcPts val="800"/>
              </a:spcAft>
            </a:pPr>
            <a:r>
              <a:rPr sz="2700">
                <a:solidFill>
                  <a:srgbClr val="000000"/>
                </a:solidFill>
                <a:latin typeface="Arial"/>
              </a:rPr>
              <a:t>Abstract</a:t>
            </a:r>
          </a:p>
          <a:p>
            <a:pPr algn="l">
              <a:spcAft>
                <a:spcPts val="800"/>
              </a:spcAft>
            </a:pPr>
            <a:r>
              <a:rPr sz="2700">
                <a:solidFill>
                  <a:srgbClr val="000000"/>
                </a:solidFill>
                <a:latin typeface="Arial"/>
              </a:rPr>
              <a:t>Introduction</a:t>
            </a:r>
          </a:p>
          <a:p>
            <a:pPr algn="l">
              <a:spcAft>
                <a:spcPts val="800"/>
              </a:spcAft>
            </a:pPr>
            <a:r>
              <a:rPr sz="2700">
                <a:solidFill>
                  <a:srgbClr val="000000"/>
                </a:solidFill>
                <a:latin typeface="Arial"/>
              </a:rPr>
              <a:t>Objective</a:t>
            </a:r>
          </a:p>
          <a:p>
            <a:pPr algn="l">
              <a:spcAft>
                <a:spcPts val="800"/>
              </a:spcAft>
            </a:pPr>
            <a:r>
              <a:rPr sz="2700">
                <a:solidFill>
                  <a:srgbClr val="000000"/>
                </a:solidFill>
                <a:latin typeface="Arial"/>
              </a:rPr>
              <a:t>System Architecture / Ideation Map</a:t>
            </a:r>
          </a:p>
          <a:p>
            <a:pPr algn="l">
              <a:spcAft>
                <a:spcPts val="800"/>
              </a:spcAft>
            </a:pPr>
            <a:r>
              <a:rPr sz="2700">
                <a:solidFill>
                  <a:srgbClr val="000000"/>
                </a:solidFill>
                <a:latin typeface="Arial"/>
              </a:rPr>
              <a:t>Module Implementation</a:t>
            </a:r>
          </a:p>
          <a:p>
            <a:pPr algn="l">
              <a:spcAft>
                <a:spcPts val="800"/>
              </a:spcAft>
            </a:pPr>
            <a:r>
              <a:rPr sz="2700">
                <a:solidFill>
                  <a:srgbClr val="000000"/>
                </a:solidFill>
                <a:latin typeface="Arial"/>
              </a:rPr>
              <a:t>Results and Discussions</a:t>
            </a:r>
          </a:p>
          <a:p>
            <a:pPr algn="l">
              <a:spcAft>
                <a:spcPts val="800"/>
              </a:spcAft>
            </a:pPr>
            <a:r>
              <a:rPr sz="2700">
                <a:solidFill>
                  <a:srgbClr val="000000"/>
                </a:solidFill>
                <a:latin typeface="Arial"/>
              </a:rPr>
              <a:t>Conclusion</a:t>
            </a:r>
          </a:p>
          <a:p>
            <a:pPr algn="l">
              <a:spcAft>
                <a:spcPts val="800"/>
              </a:spcAft>
            </a:pPr>
            <a:r>
              <a:rPr sz="2700">
                <a:solidFill>
                  <a:srgbClr val="000000"/>
                </a:solidFill>
                <a:latin typeface="Arial"/>
              </a:rPr>
              <a:t>References</a:t>
            </a:r>
          </a:p>
        </p:txBody>
      </p:sp>
      <p:sp>
        <p:nvSpPr>
          <p:cNvPr id="4" name="Date Placeholder 3"/>
          <p:cNvSpPr>
            <a:spLocks noGrp="1"/>
          </p:cNvSpPr>
          <p:nvPr>
            <p:ph type="dt" sz="half" idx="10"/>
          </p:nvPr>
        </p:nvSpPr>
        <p:spPr/>
        <p:txBody>
          <a:bodyPr/>
          <a:lstStyle/>
          <a:p>
            <a:pPr algn="l"/>
            <a:r>
              <a:rPr sz="1000">
                <a:solidFill>
                  <a:srgbClr val="808080"/>
                </a:solidFill>
                <a:latin typeface="Arial"/>
              </a:rPr>
              <a:t>14 September 2026</a:t>
            </a:r>
            <a:endParaRPr lang="en-US"/>
          </a:p>
        </p:txBody>
      </p:sp>
      <p:sp>
        <p:nvSpPr>
          <p:cNvPr id="5" name="Footer Placeholder 4"/>
          <p:cNvSpPr>
            <a:spLocks noGrp="1"/>
          </p:cNvSpPr>
          <p:nvPr>
            <p:ph type="ftr" sz="quarter" idx="11"/>
          </p:nvPr>
        </p:nvSpPr>
        <p:spPr/>
        <p:txBody>
          <a:bodyPr/>
          <a:lstStyle/>
          <a:p>
            <a:pPr algn="ctr"/>
            <a:r>
              <a:rPr sz="1000">
                <a:solidFill>
                  <a:srgbClr val="808080"/>
                </a:solidFill>
                <a:latin typeface="Arial"/>
              </a:rPr>
              <a:t>School of Computing - CSE</a:t>
            </a:r>
          </a:p>
        </p:txBody>
      </p:sp>
      <p:sp>
        <p:nvSpPr>
          <p:cNvPr id="6" name="Slide Number Placeholder 5"/>
          <p:cNvSpPr>
            <a:spLocks noGrp="1"/>
          </p:cNvSpPr>
          <p:nvPr>
            <p:ph type="sldNum" sz="quarter" idx="12"/>
          </p:nvPr>
        </p:nvSpPr>
        <p:spPr/>
        <p:txBody>
          <a:bodyPr/>
          <a:lstStyle/>
          <a:p>
            <a:pPr algn="r"/>
            <a:r>
              <a:rPr sz="1000">
                <a:solidFill>
                  <a:srgbClr val="808080"/>
                </a:solidFill>
                <a:latin typeface="Arial"/>
              </a:rPr>
              <a:t>2</a:t>
            </a:r>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Arial"/>
              </a:rPr>
              <a:t>COURSE CERTIFICATE - 1</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3</a:t>
            </a:r>
            <a:endParaRPr lang="en-US" dirty="0"/>
          </a:p>
        </p:txBody>
      </p:sp>
      <p:sp>
        <p:nvSpPr>
          <p:cNvPr id="4" name="Content Placeholder 3"/>
          <p:cNvSpPr>
            <a:spLocks noGrp="1"/>
          </p:cNvSpPr>
          <p:nvPr>
            <p:ph idx="1"/>
          </p:nvPr>
        </p:nvSpPr>
        <p:spPr/>
        <p:txBody>
          <a:bodyPr/>
          <a:lstStyle/>
          <a:p>
            <a:pPr marL="0" indent="0">
              <a:buNone/>
            </a:pPr>
            <a:endParaRPr lang="en-US" dirty="0"/>
          </a:p>
          <a:p>
            <a:pPr marL="0" indent="0">
              <a:buNone/>
            </a:pPr>
            <a:endParaRPr lang="en-US" dirty="0"/>
          </a:p>
        </p:txBody>
      </p:sp>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Arial"/>
              </a:rPr>
              <a:t>COURSE CERTIFICATE - 2</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4</a:t>
            </a:r>
            <a:endParaRPr lang="en-US" dirty="0"/>
          </a:p>
        </p:txBody>
      </p:sp>
      <p:sp>
        <p:nvSpPr>
          <p:cNvPr id="4" name="Content Placeholder 3"/>
          <p:cNvSpPr>
            <a:spLocks noGrp="1"/>
          </p:cNvSpPr>
          <p:nvPr>
            <p:ph idx="1"/>
          </p:nvPr>
        </p:nvSpPr>
        <p:spPr/>
        <p:txBody>
          <a:bodyPr/>
          <a:lstStyle/>
          <a:p>
            <a:pPr marL="0" indent="0">
              <a:buNone/>
            </a:pPr>
            <a:endParaRPr lang="en-US" dirty="0"/>
          </a:p>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ABSTRACT</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5</a:t>
            </a:r>
            <a:endParaRPr lang="en-US" dirty="0"/>
          </a:p>
        </p:txBody>
      </p:sp>
      <p:sp>
        <p:nvSpPr>
          <p:cNvPr id="4" name="Content Placeholder 3"/>
          <p:cNvSpPr>
            <a:spLocks noGrp="1"/>
          </p:cNvSpPr>
          <p:nvPr>
            <p:ph idx="1"/>
          </p:nvPr>
        </p:nvSpPr>
        <p:spPr>
          <a:xfrm>
            <a:off x="502920" y="1600200"/>
            <a:ext cx="8183880" cy="4358640"/>
          </a:xfrm>
        </p:spPr>
        <p:txBody>
          <a:bodyPr lIns="45720" rIns="45720" anchor="ctr">
            <a:normAutofit/>
          </a:bodyPr>
          <a:lstStyle/>
          <a:p>
            <a:pPr marL="0" indent="0" algn="just">
              <a:spcAft>
                <a:spcPts val="800"/>
              </a:spcAft>
              <a:buNone/>
            </a:pPr>
            <a:r>
              <a:rPr sz="2000" dirty="0">
                <a:solidFill>
                  <a:srgbClr val="000000"/>
                </a:solidFill>
                <a:latin typeface="Arial"/>
              </a:rPr>
              <a:t>This project develops an advanced University Academic Performance Analytics system using a synthetic and anonymized dataset of 500 engineering students across five departments and eight semesters. Python was used for data generation, cleaning, feature engineering, statistical analysis, risk scoring, trajectory analysis, resilience and recoverability analysis, subject vulnerability intelligence, academic fingerprinting and Academic Digital Twin simulation. SQLite was used for relational storage, SQL validation and read-back checks. Power BI was used to build dashboards for academic overview, risk and early warning, intervention and recovery. The final system supports evidence-based monitoring, priority student support, target achievement tracking and institutional decision-making.</a:t>
            </a:r>
          </a:p>
        </p:txBody>
      </p:sp>
      <p:sp>
        <p:nvSpPr>
          <p:cNvPr id="3" name="TextBox 2">
            <a:extLst>
              <a:ext uri="{FF2B5EF4-FFF2-40B4-BE49-F238E27FC236}">
                <a16:creationId xmlns:a16="http://schemas.microsoft.com/office/drawing/2014/main" id="{ADB415CE-B950-90A3-DEAC-D1CF4EF002D5}"/>
              </a:ext>
            </a:extLst>
          </p:cNvPr>
          <p:cNvSpPr txBox="1"/>
          <p:nvPr/>
        </p:nvSpPr>
        <p:spPr>
          <a:xfrm>
            <a:off x="5319252" y="1799303"/>
            <a:ext cx="184731" cy="369332"/>
          </a:xfrm>
          <a:prstGeom prst="rect">
            <a:avLst/>
          </a:prstGeom>
          <a:noFill/>
        </p:spPr>
        <p:txBody>
          <a:bodyPr wrap="none" rtlCol="0">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INTRODUCTION</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6</a:t>
            </a:r>
            <a:endParaRPr lang="en-US" dirty="0"/>
          </a:p>
        </p:txBody>
      </p:sp>
      <p:sp>
        <p:nvSpPr>
          <p:cNvPr id="4" name="Content Placeholder 3"/>
          <p:cNvSpPr>
            <a:spLocks noGrp="1"/>
          </p:cNvSpPr>
          <p:nvPr>
            <p:ph idx="1"/>
          </p:nvPr>
        </p:nvSpPr>
        <p:spPr>
          <a:xfrm>
            <a:off x="502920" y="1508760"/>
            <a:ext cx="4709160" cy="4114800"/>
          </a:xfrm>
        </p:spPr>
        <p:txBody>
          <a:bodyPr lIns="45720" rIns="45720" anchor="ctr">
            <a:normAutofit/>
          </a:bodyPr>
          <a:lstStyle/>
          <a:p>
            <a:pPr algn="l">
              <a:buChar char="•"/>
              <a:defRPr sz="1700">
                <a:solidFill>
                  <a:srgbClr val="000000"/>
                </a:solidFill>
                <a:latin typeface="Calibri"/>
              </a:defRPr>
            </a:pPr>
            <a:r>
              <a:rPr sz="2000"/>
              <a:t>Academic institutions generate marks, attendance, re-exam and backlog data every semester.</a:t>
            </a:r>
            <a:endParaRPr lang="en-US" sz="2000" dirty="0"/>
          </a:p>
          <a:p>
            <a:pPr algn="l"/>
            <a:r>
              <a:rPr sz="2000"/>
              <a:t>Manual review makes it difficult to detect high-risk students, silent strugglers and intervention priorities early.</a:t>
            </a:r>
          </a:p>
          <a:p>
            <a:pPr algn="l"/>
            <a:r>
              <a:rPr sz="2000"/>
              <a:t>This project converts raw academic records into validated performance, risk, recovery and institutional insights.</a:t>
            </a:r>
          </a:p>
          <a:p>
            <a:pPr algn="l"/>
            <a:r>
              <a:rPr sz="2000"/>
              <a:t>The final dashboards help faculty monitor academic overview, early warning signals and recovery outcomes.</a:t>
            </a:r>
          </a:p>
        </p:txBody>
      </p:sp>
      <p:sp>
        <p:nvSpPr>
          <p:cNvPr id="7" name="Rounded Rectangle 6"/>
          <p:cNvSpPr/>
          <p:nvPr/>
        </p:nvSpPr>
        <p:spPr>
          <a:xfrm>
            <a:off x="5532120" y="1600200"/>
            <a:ext cx="2560320" cy="54864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Student Academic Data</a:t>
            </a:r>
          </a:p>
        </p:txBody>
      </p:sp>
      <p:sp>
        <p:nvSpPr>
          <p:cNvPr id="8" name="Rounded Rectangle 7"/>
          <p:cNvSpPr/>
          <p:nvPr/>
        </p:nvSpPr>
        <p:spPr>
          <a:xfrm>
            <a:off x="5532120" y="2514600"/>
            <a:ext cx="2560320" cy="54864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Risk &amp; Early Warning</a:t>
            </a:r>
          </a:p>
        </p:txBody>
      </p:sp>
      <p:sp>
        <p:nvSpPr>
          <p:cNvPr id="9" name="Rounded Rectangle 8"/>
          <p:cNvSpPr/>
          <p:nvPr/>
        </p:nvSpPr>
        <p:spPr>
          <a:xfrm>
            <a:off x="5532120" y="3429000"/>
            <a:ext cx="2560320" cy="54864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Intervention Planning</a:t>
            </a:r>
          </a:p>
        </p:txBody>
      </p:sp>
      <p:sp>
        <p:nvSpPr>
          <p:cNvPr id="10" name="Rounded Rectangle 9"/>
          <p:cNvSpPr/>
          <p:nvPr/>
        </p:nvSpPr>
        <p:spPr>
          <a:xfrm>
            <a:off x="5532120" y="4343400"/>
            <a:ext cx="2560320" cy="548640"/>
          </a:xfrm>
          <a:prstGeom prst="roundRect">
            <a:avLst/>
          </a:prstGeom>
          <a:solidFill>
            <a:srgbClr val="E0F2FE"/>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Dashboard Insights</a:t>
            </a:r>
          </a:p>
        </p:txBody>
      </p:sp>
      <p:cxnSp>
        <p:nvCxnSpPr>
          <p:cNvPr id="11" name="Connector 10"/>
          <p:cNvCxnSpPr/>
          <p:nvPr/>
        </p:nvCxnSpPr>
        <p:spPr>
          <a:xfrm>
            <a:off x="6812280" y="2148840"/>
            <a:ext cx="0" cy="32004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12280" y="3063240"/>
            <a:ext cx="0" cy="32004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12280" y="3977639"/>
            <a:ext cx="0" cy="32004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OBJECTIVE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7</a:t>
            </a:r>
            <a:endParaRPr lang="en-US" dirty="0"/>
          </a:p>
        </p:txBody>
      </p:sp>
      <p:sp>
        <p:nvSpPr>
          <p:cNvPr id="4" name="Content Placeholder 3"/>
          <p:cNvSpPr>
            <a:spLocks noGrp="1"/>
          </p:cNvSpPr>
          <p:nvPr>
            <p:ph idx="1"/>
          </p:nvPr>
        </p:nvSpPr>
        <p:spPr>
          <a:xfrm>
            <a:off x="502920" y="1463040"/>
            <a:ext cx="3840480" cy="4480560"/>
          </a:xfrm>
        </p:spPr>
        <p:txBody>
          <a:bodyPr lIns="45720" rIns="45720" anchor="ctr">
            <a:normAutofit/>
          </a:bodyPr>
          <a:lstStyle/>
          <a:p>
            <a:pPr algn="l">
              <a:buChar char="•"/>
              <a:defRPr sz="1600">
                <a:solidFill>
                  <a:srgbClr val="000000"/>
                </a:solidFill>
                <a:latin typeface="Calibri"/>
              </a:defRPr>
            </a:pPr>
            <a:r>
              <a:rPr sz="2000" dirty="0"/>
              <a:t>Analyze marks, attendance, CGPA, pass/fail outcomes, re-exams and active backlogs.</a:t>
            </a:r>
            <a:endParaRPr lang="en-US" sz="2000" dirty="0"/>
          </a:p>
          <a:p>
            <a:pPr algn="l"/>
            <a:r>
              <a:rPr sz="2000" dirty="0"/>
              <a:t>Develop academic risk scoring, silent-struggler detection and early-warning indicators.</a:t>
            </a:r>
          </a:p>
          <a:p>
            <a:pPr algn="l"/>
            <a:r>
              <a:rPr sz="2000" dirty="0"/>
              <a:t>Simulate intervention plans using minimum planner and Academic Digital Twin scenarios.</a:t>
            </a:r>
          </a:p>
          <a:p>
            <a:pPr algn="l"/>
            <a:r>
              <a:rPr sz="2000" dirty="0"/>
              <a:t>Build interactive Power BI dashboards for performance, risk, intervention and decision support.</a:t>
            </a:r>
          </a:p>
        </p:txBody>
      </p:sp>
      <p:sp>
        <p:nvSpPr>
          <p:cNvPr id="7" name="TextBox 6"/>
          <p:cNvSpPr txBox="1"/>
          <p:nvPr/>
        </p:nvSpPr>
        <p:spPr>
          <a:xfrm>
            <a:off x="4800600" y="1508760"/>
            <a:ext cx="3200400" cy="320040"/>
          </a:xfrm>
          <a:prstGeom prst="rect">
            <a:avLst/>
          </a:prstGeom>
          <a:noFill/>
        </p:spPr>
        <p:txBody>
          <a:bodyPr wrap="none" anchor="ctr">
            <a:spAutoFit/>
          </a:bodyPr>
          <a:lstStyle/>
          <a:p>
            <a:pPr algn="ctr">
              <a:defRPr sz="1600" b="1">
                <a:solidFill>
                  <a:srgbClr val="0F172A"/>
                </a:solidFill>
                <a:latin typeface="Calibri"/>
              </a:defRPr>
            </a:pPr>
            <a:r>
              <a:rPr sz="1200" b="1">
                <a:solidFill>
                  <a:srgbClr val="12233B"/>
                </a:solidFill>
              </a:rPr>
              <a:t>Key Objectives</a:t>
            </a:r>
          </a:p>
        </p:txBody>
      </p:sp>
      <p:sp>
        <p:nvSpPr>
          <p:cNvPr id="8" name="Rounded Rectangle 7"/>
          <p:cNvSpPr/>
          <p:nvPr/>
        </p:nvSpPr>
        <p:spPr>
          <a:xfrm>
            <a:off x="4709160" y="2057400"/>
            <a:ext cx="1508760" cy="8229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Marks</a:t>
            </a:r>
          </a:p>
          <a:p>
            <a:pPr algn="ctr"/>
            <a:r>
              <a:rPr sz="900" b="1">
                <a:solidFill>
                  <a:srgbClr val="12233B"/>
                </a:solidFill>
              </a:rPr>
              <a:t>Analysis</a:t>
            </a:r>
          </a:p>
        </p:txBody>
      </p:sp>
      <p:sp>
        <p:nvSpPr>
          <p:cNvPr id="9" name="Rounded Rectangle 8"/>
          <p:cNvSpPr/>
          <p:nvPr/>
        </p:nvSpPr>
        <p:spPr>
          <a:xfrm>
            <a:off x="6492240" y="2057400"/>
            <a:ext cx="1508760" cy="82296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Risk</a:t>
            </a:r>
          </a:p>
          <a:p>
            <a:pPr algn="ctr"/>
            <a:r>
              <a:rPr sz="900" b="1">
                <a:solidFill>
                  <a:srgbClr val="12233B"/>
                </a:solidFill>
              </a:rPr>
              <a:t>Scoring</a:t>
            </a:r>
          </a:p>
        </p:txBody>
      </p:sp>
      <p:sp>
        <p:nvSpPr>
          <p:cNvPr id="10" name="Rounded Rectangle 9"/>
          <p:cNvSpPr/>
          <p:nvPr/>
        </p:nvSpPr>
        <p:spPr>
          <a:xfrm>
            <a:off x="4709160" y="3429000"/>
            <a:ext cx="1508760" cy="822960"/>
          </a:xfrm>
          <a:prstGeom prst="roundRect">
            <a:avLst/>
          </a:prstGeom>
          <a:solidFill>
            <a:srgbClr val="F8FAF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Recovery</a:t>
            </a:r>
          </a:p>
          <a:p>
            <a:pPr algn="ctr"/>
            <a:r>
              <a:rPr sz="900" b="1">
                <a:solidFill>
                  <a:srgbClr val="12233B"/>
                </a:solidFill>
              </a:rPr>
              <a:t>Planning</a:t>
            </a:r>
          </a:p>
        </p:txBody>
      </p:sp>
      <p:sp>
        <p:nvSpPr>
          <p:cNvPr id="11" name="Rounded Rectangle 10"/>
          <p:cNvSpPr/>
          <p:nvPr/>
        </p:nvSpPr>
        <p:spPr>
          <a:xfrm>
            <a:off x="6492240" y="3429000"/>
            <a:ext cx="1508760" cy="822960"/>
          </a:xfrm>
          <a:prstGeom prst="roundRect">
            <a:avLst/>
          </a:prstGeom>
          <a:solidFill>
            <a:srgbClr val="F8FAFC"/>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Digital</a:t>
            </a:r>
          </a:p>
          <a:p>
            <a:pPr algn="ctr"/>
            <a:r>
              <a:rPr sz="900" b="1">
                <a:solidFill>
                  <a:srgbClr val="12233B"/>
                </a:solidFill>
              </a:rPr>
              <a:t>Twin</a:t>
            </a:r>
          </a:p>
        </p:txBody>
      </p:sp>
      <p:sp>
        <p:nvSpPr>
          <p:cNvPr id="12" name="Rounded Rectangle 11"/>
          <p:cNvSpPr/>
          <p:nvPr/>
        </p:nvSpPr>
        <p:spPr>
          <a:xfrm>
            <a:off x="5623560" y="4754880"/>
            <a:ext cx="1463040" cy="50292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Decision</a:t>
            </a:r>
          </a:p>
          <a:p>
            <a:pPr algn="ctr"/>
            <a:r>
              <a:rPr sz="900" b="1">
                <a:solidFill>
                  <a:srgbClr val="12233B"/>
                </a:solidFill>
              </a:rPr>
              <a:t>Support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SYSTEM ARCHITECTURE / IDEATION MAP</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8</a:t>
            </a:r>
            <a:endParaRPr lang="en-US" dirty="0"/>
          </a:p>
        </p:txBody>
      </p:sp>
      <p:sp>
        <p:nvSpPr>
          <p:cNvPr id="4" name="Content Placeholder 3"/>
          <p:cNvSpPr>
            <a:spLocks noGrp="1"/>
          </p:cNvSpPr>
          <p:nvPr>
            <p:ph idx="1"/>
          </p:nvPr>
        </p:nvSpPr>
        <p:spPr>
          <a:xfrm>
            <a:off x="411480" y="1417320"/>
            <a:ext cx="8321040" cy="4709160"/>
          </a:xfrm>
        </p:spPr>
        <p:txBody>
          <a:bodyPr lIns="45720" rIns="45720" anchor="t"/>
          <a:lstStyle/>
          <a:p>
            <a:pPr marL="0" indent="0" algn="just">
              <a:spcAft>
                <a:spcPts val="800"/>
              </a:spcAft>
              <a:buNone/>
            </a:pPr>
            <a:r>
              <a:rPr sz="2400"/>
              <a:t>The architecture connects data preparation, advanced analytics, SQL validation and dashboard visualization in one workflow.</a:t>
            </a:r>
          </a:p>
        </p:txBody>
      </p:sp>
      <p:sp>
        <p:nvSpPr>
          <p:cNvPr id="7" name="Rounded Rectangle 6"/>
          <p:cNvSpPr/>
          <p:nvPr/>
        </p:nvSpPr>
        <p:spPr>
          <a:xfrm>
            <a:off x="381000" y="2514600"/>
            <a:ext cx="1234440" cy="713232"/>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600" b="1">
                <a:solidFill>
                  <a:srgbClr val="12233B"/>
                </a:solidFill>
              </a:rPr>
              <a:t>Excel</a:t>
            </a:r>
          </a:p>
          <a:p>
            <a:pPr algn="ctr"/>
            <a:r>
              <a:rPr sz="600" b="1">
                <a:solidFill>
                  <a:srgbClr val="12233B"/>
                </a:solidFill>
              </a:rPr>
              <a:t>Dataset</a:t>
            </a:r>
          </a:p>
        </p:txBody>
      </p:sp>
      <p:cxnSp>
        <p:nvCxnSpPr>
          <p:cNvPr id="8" name="Connector 7"/>
          <p:cNvCxnSpPr/>
          <p:nvPr/>
        </p:nvCxnSpPr>
        <p:spPr>
          <a:xfrm>
            <a:off x="1600200" y="2871216"/>
            <a:ext cx="210312"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828800" y="2514600"/>
            <a:ext cx="1234440" cy="713232"/>
          </a:xfrm>
          <a:prstGeom prst="roundRect">
            <a:avLst/>
          </a:prstGeom>
          <a:solidFill>
            <a:srgbClr val="F8FAFC"/>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600" b="1">
                <a:solidFill>
                  <a:srgbClr val="12233B"/>
                </a:solidFill>
              </a:rPr>
              <a:t>Python</a:t>
            </a:r>
          </a:p>
          <a:p>
            <a:pPr algn="ctr"/>
            <a:r>
              <a:rPr sz="600" b="1">
                <a:solidFill>
                  <a:srgbClr val="12233B"/>
                </a:solidFill>
              </a:rPr>
              <a:t>Cleaning</a:t>
            </a:r>
          </a:p>
        </p:txBody>
      </p:sp>
      <p:cxnSp>
        <p:nvCxnSpPr>
          <p:cNvPr id="10" name="Connector 9"/>
          <p:cNvCxnSpPr/>
          <p:nvPr/>
        </p:nvCxnSpPr>
        <p:spPr>
          <a:xfrm>
            <a:off x="3048000" y="2871216"/>
            <a:ext cx="210312" cy="0"/>
          </a:xfrm>
          <a:prstGeom prst="line">
            <a:avLst/>
          </a:prstGeom>
          <a:ln w="25400">
            <a:solidFill>
              <a:srgbClr val="0F7678"/>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76600" y="2514600"/>
            <a:ext cx="1234440" cy="713232"/>
          </a:xfrm>
          <a:prstGeom prst="roundRect">
            <a:avLst/>
          </a:prstGeom>
          <a:solidFill>
            <a:srgbClr val="F8FAF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600" b="1">
                <a:solidFill>
                  <a:srgbClr val="12233B"/>
                </a:solidFill>
              </a:rPr>
              <a:t>Risk +</a:t>
            </a:r>
          </a:p>
          <a:p>
            <a:pPr algn="ctr"/>
            <a:r>
              <a:rPr sz="600" b="1">
                <a:solidFill>
                  <a:srgbClr val="12233B"/>
                </a:solidFill>
              </a:rPr>
              <a:t>Recovery</a:t>
            </a:r>
          </a:p>
        </p:txBody>
      </p:sp>
      <p:cxnSp>
        <p:nvCxnSpPr>
          <p:cNvPr id="12" name="Connector 11"/>
          <p:cNvCxnSpPr/>
          <p:nvPr/>
        </p:nvCxnSpPr>
        <p:spPr>
          <a:xfrm>
            <a:off x="4495800" y="2871216"/>
            <a:ext cx="210312"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24400" y="2514600"/>
            <a:ext cx="1234440" cy="71323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600" b="1">
                <a:solidFill>
                  <a:srgbClr val="12233B"/>
                </a:solidFill>
              </a:rPr>
              <a:t>SQLite</a:t>
            </a:r>
          </a:p>
          <a:p>
            <a:pPr algn="ctr"/>
            <a:r>
              <a:rPr sz="600" b="1">
                <a:solidFill>
                  <a:srgbClr val="12233B"/>
                </a:solidFill>
              </a:rPr>
              <a:t>Validation</a:t>
            </a:r>
          </a:p>
        </p:txBody>
      </p:sp>
      <p:cxnSp>
        <p:nvCxnSpPr>
          <p:cNvPr id="14" name="Connector 13"/>
          <p:cNvCxnSpPr/>
          <p:nvPr/>
        </p:nvCxnSpPr>
        <p:spPr>
          <a:xfrm>
            <a:off x="5943600" y="2871216"/>
            <a:ext cx="210312" cy="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72200" y="2514600"/>
            <a:ext cx="1234440" cy="713232"/>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600" b="1">
                <a:solidFill>
                  <a:srgbClr val="12233B"/>
                </a:solidFill>
              </a:rPr>
              <a:t>Power BI</a:t>
            </a:r>
          </a:p>
          <a:p>
            <a:pPr algn="ctr"/>
            <a:r>
              <a:rPr sz="600" b="1">
                <a:solidFill>
                  <a:srgbClr val="12233B"/>
                </a:solidFill>
              </a:rPr>
              <a:t>Dashboards</a:t>
            </a:r>
          </a:p>
        </p:txBody>
      </p:sp>
      <p:cxnSp>
        <p:nvCxnSpPr>
          <p:cNvPr id="16" name="Connector 15"/>
          <p:cNvCxnSpPr/>
          <p:nvPr/>
        </p:nvCxnSpPr>
        <p:spPr>
          <a:xfrm>
            <a:off x="7391400" y="2871216"/>
            <a:ext cx="210312"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20000" y="2514600"/>
            <a:ext cx="1234440" cy="713232"/>
          </a:xfrm>
          <a:prstGeom prst="roundRect">
            <a:avLst/>
          </a:prstGeom>
          <a:solidFill>
            <a:srgbClr val="F8FAFC"/>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600" b="1">
                <a:solidFill>
                  <a:srgbClr val="12233B"/>
                </a:solidFill>
              </a:rPr>
              <a:t>Academic</a:t>
            </a:r>
          </a:p>
          <a:p>
            <a:pPr algn="ctr"/>
            <a:r>
              <a:rPr sz="600" b="1">
                <a:solidFill>
                  <a:srgbClr val="12233B"/>
                </a:solidFill>
              </a:rPr>
              <a:t>Insights</a:t>
            </a:r>
          </a:p>
        </p:txBody>
      </p:sp>
      <p:sp>
        <p:nvSpPr>
          <p:cNvPr id="18" name="TextBox 17"/>
          <p:cNvSpPr txBox="1"/>
          <p:nvPr/>
        </p:nvSpPr>
        <p:spPr>
          <a:xfrm>
            <a:off x="533400" y="3749039"/>
            <a:ext cx="7498079" cy="320040"/>
          </a:xfrm>
          <a:prstGeom prst="rect">
            <a:avLst/>
          </a:prstGeom>
          <a:noFill/>
        </p:spPr>
        <p:txBody>
          <a:bodyPr wrap="none" anchor="ctr">
            <a:spAutoFit/>
          </a:bodyPr>
          <a:lstStyle/>
          <a:p>
            <a:pPr algn="ctr">
              <a:defRPr sz="1200" b="0">
                <a:solidFill>
                  <a:srgbClr val="475569"/>
                </a:solidFill>
                <a:latin typeface="Calibri"/>
              </a:defRPr>
            </a:pPr>
            <a:r>
              <a:rPr sz="700" b="0">
                <a:solidFill>
                  <a:srgbClr val="12233B"/>
                </a:solidFill>
              </a:rPr>
              <a:t>Data Model: Students  |  Subjects  |  Academic Records  |  Attendance  |  Re-exam Records  |  Semester Performance</a:t>
            </a:r>
          </a:p>
        </p:txBody>
      </p:sp>
      <p:sp>
        <p:nvSpPr>
          <p:cNvPr id="19" name="Rounded Rectangle 18"/>
          <p:cNvSpPr/>
          <p:nvPr/>
        </p:nvSpPr>
        <p:spPr>
          <a:xfrm>
            <a:off x="914400" y="4251960"/>
            <a:ext cx="1920240" cy="45720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700" b="1">
                <a:solidFill>
                  <a:srgbClr val="12233B"/>
                </a:solidFill>
              </a:rPr>
              <a:t>Row Count Validation</a:t>
            </a:r>
          </a:p>
        </p:txBody>
      </p:sp>
      <p:sp>
        <p:nvSpPr>
          <p:cNvPr id="20" name="Rounded Rectangle 19"/>
          <p:cNvSpPr/>
          <p:nvPr/>
        </p:nvSpPr>
        <p:spPr>
          <a:xfrm>
            <a:off x="3291840" y="4251960"/>
            <a:ext cx="1920240" cy="45720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700" b="1">
                <a:solidFill>
                  <a:srgbClr val="12233B"/>
                </a:solidFill>
              </a:rPr>
              <a:t>Intelligence Modules</a:t>
            </a:r>
          </a:p>
        </p:txBody>
      </p:sp>
      <p:sp>
        <p:nvSpPr>
          <p:cNvPr id="21" name="Rounded Rectangle 20"/>
          <p:cNvSpPr/>
          <p:nvPr/>
        </p:nvSpPr>
        <p:spPr>
          <a:xfrm>
            <a:off x="5669280" y="4251960"/>
            <a:ext cx="1920240" cy="45720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Calibri"/>
              </a:defRPr>
            </a:pPr>
            <a:r>
              <a:rPr sz="700" b="1">
                <a:solidFill>
                  <a:srgbClr val="12233B"/>
                </a:solidFill>
              </a:rPr>
              <a:t>Interactive Filters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MODULE IMPLEMENTATION</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9</a:t>
            </a:r>
            <a:endParaRPr lang="en-US" dirty="0"/>
          </a:p>
        </p:txBody>
      </p:sp>
      <p:sp>
        <p:nvSpPr>
          <p:cNvPr id="4" name="Content Placeholder 3"/>
          <p:cNvSpPr>
            <a:spLocks noGrp="1"/>
          </p:cNvSpPr>
          <p:nvPr>
            <p:ph idx="1"/>
          </p:nvPr>
        </p:nvSpPr>
        <p:spPr>
          <a:xfrm>
            <a:off x="502920" y="1463040"/>
            <a:ext cx="8138160" cy="4480560"/>
          </a:xfrm>
        </p:spPr>
        <p:txBody>
          <a:bodyPr lIns="45720" rIns="45720" anchor="t"/>
          <a:lstStyle/>
          <a:p>
            <a:pPr marL="0" indent="0" algn="l">
              <a:spcAft>
                <a:spcPts val="800"/>
              </a:spcAft>
              <a:buNone/>
            </a:pPr>
            <a:endParaRPr lang="en-US" dirty="0"/>
          </a:p>
          <a:p>
            <a:pPr marL="0" indent="0" algn="l">
              <a:spcAft>
                <a:spcPts val="800"/>
              </a:spcAft>
              <a:buNone/>
            </a:pPr>
            <a:endParaRPr lang="en-US" dirty="0"/>
          </a:p>
        </p:txBody>
      </p:sp>
      <p:sp>
        <p:nvSpPr>
          <p:cNvPr id="7" name="Oval 6"/>
          <p:cNvSpPr/>
          <p:nvPr/>
        </p:nvSpPr>
        <p:spPr>
          <a:xfrm>
            <a:off x="640080" y="169164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1</a:t>
            </a:r>
          </a:p>
        </p:txBody>
      </p:sp>
      <p:sp>
        <p:nvSpPr>
          <p:cNvPr id="8" name="Rounded Rectangle 7"/>
          <p:cNvSpPr/>
          <p:nvPr/>
        </p:nvSpPr>
        <p:spPr>
          <a:xfrm>
            <a:off x="1261872" y="164592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rPr sz="700" b="1">
                <a:solidFill>
                  <a:srgbClr val="12233B"/>
                </a:solidFill>
              </a:rPr>
              <a:t>Data</a:t>
            </a:r>
          </a:p>
          <a:p>
            <a:pPr algn="ctr"/>
            <a:r>
              <a:rPr sz="700" b="1">
                <a:solidFill>
                  <a:srgbClr val="12233B"/>
                </a:solidFill>
              </a:rPr>
              <a:t>Preparation</a:t>
            </a:r>
          </a:p>
        </p:txBody>
      </p:sp>
      <p:sp>
        <p:nvSpPr>
          <p:cNvPr id="9" name="Oval 8"/>
          <p:cNvSpPr/>
          <p:nvPr/>
        </p:nvSpPr>
        <p:spPr>
          <a:xfrm>
            <a:off x="3383280" y="169164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2</a:t>
            </a:r>
          </a:p>
        </p:txBody>
      </p:sp>
      <p:sp>
        <p:nvSpPr>
          <p:cNvPr id="10" name="Rounded Rectangle 9"/>
          <p:cNvSpPr/>
          <p:nvPr/>
        </p:nvSpPr>
        <p:spPr>
          <a:xfrm>
            <a:off x="4005072" y="164592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rPr sz="700" b="1">
                <a:solidFill>
                  <a:srgbClr val="12233B"/>
                </a:solidFill>
              </a:rPr>
              <a:t>Risk + Early</a:t>
            </a:r>
          </a:p>
          <a:p>
            <a:pPr algn="ctr"/>
            <a:r>
              <a:rPr sz="700" b="1">
                <a:solidFill>
                  <a:srgbClr val="12233B"/>
                </a:solidFill>
              </a:rPr>
              <a:t>Warning</a:t>
            </a:r>
          </a:p>
        </p:txBody>
      </p:sp>
      <p:sp>
        <p:nvSpPr>
          <p:cNvPr id="11" name="Oval 10"/>
          <p:cNvSpPr/>
          <p:nvPr/>
        </p:nvSpPr>
        <p:spPr>
          <a:xfrm>
            <a:off x="6126480" y="169164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3</a:t>
            </a:r>
          </a:p>
        </p:txBody>
      </p:sp>
      <p:sp>
        <p:nvSpPr>
          <p:cNvPr id="12" name="Rounded Rectangle 11"/>
          <p:cNvSpPr/>
          <p:nvPr/>
        </p:nvSpPr>
        <p:spPr>
          <a:xfrm>
            <a:off x="6748272" y="164592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rPr sz="700" b="1">
                <a:solidFill>
                  <a:srgbClr val="12233B"/>
                </a:solidFill>
              </a:rPr>
              <a:t>Trajectory +</a:t>
            </a:r>
          </a:p>
          <a:p>
            <a:pPr algn="ctr"/>
            <a:r>
              <a:rPr sz="700" b="1">
                <a:solidFill>
                  <a:srgbClr val="12233B"/>
                </a:solidFill>
              </a:rPr>
              <a:t>Shock</a:t>
            </a:r>
          </a:p>
        </p:txBody>
      </p:sp>
      <p:sp>
        <p:nvSpPr>
          <p:cNvPr id="13" name="Oval 12"/>
          <p:cNvSpPr/>
          <p:nvPr/>
        </p:nvSpPr>
        <p:spPr>
          <a:xfrm>
            <a:off x="640080" y="320040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4</a:t>
            </a:r>
          </a:p>
        </p:txBody>
      </p:sp>
      <p:sp>
        <p:nvSpPr>
          <p:cNvPr id="14" name="Rounded Rectangle 13"/>
          <p:cNvSpPr/>
          <p:nvPr/>
        </p:nvSpPr>
        <p:spPr>
          <a:xfrm>
            <a:off x="1261872" y="315468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rPr sz="700" b="1">
                <a:solidFill>
                  <a:srgbClr val="12233B"/>
                </a:solidFill>
              </a:rPr>
              <a:t>Recovery +</a:t>
            </a:r>
          </a:p>
          <a:p>
            <a:pPr algn="ctr"/>
            <a:r>
              <a:rPr sz="700" b="1">
                <a:solidFill>
                  <a:srgbClr val="12233B"/>
                </a:solidFill>
              </a:rPr>
              <a:t>Intervention</a:t>
            </a:r>
          </a:p>
        </p:txBody>
      </p:sp>
      <p:sp>
        <p:nvSpPr>
          <p:cNvPr id="15" name="Oval 14"/>
          <p:cNvSpPr/>
          <p:nvPr/>
        </p:nvSpPr>
        <p:spPr>
          <a:xfrm>
            <a:off x="3383280" y="320040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5</a:t>
            </a:r>
          </a:p>
        </p:txBody>
      </p:sp>
      <p:sp>
        <p:nvSpPr>
          <p:cNvPr id="16" name="Rounded Rectangle 15"/>
          <p:cNvSpPr/>
          <p:nvPr/>
        </p:nvSpPr>
        <p:spPr>
          <a:xfrm>
            <a:off x="4005072" y="315468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rPr sz="700" b="1">
                <a:solidFill>
                  <a:srgbClr val="12233B"/>
                </a:solidFill>
              </a:rPr>
              <a:t>Digital Twin +</a:t>
            </a:r>
          </a:p>
          <a:p>
            <a:pPr algn="ctr"/>
            <a:r>
              <a:rPr sz="700" b="1">
                <a:solidFill>
                  <a:srgbClr val="12233B"/>
                </a:solidFill>
              </a:rPr>
              <a:t>Fingerprints</a:t>
            </a:r>
          </a:p>
        </p:txBody>
      </p:sp>
      <p:sp>
        <p:nvSpPr>
          <p:cNvPr id="17" name="Oval 16"/>
          <p:cNvSpPr/>
          <p:nvPr/>
        </p:nvSpPr>
        <p:spPr>
          <a:xfrm>
            <a:off x="6126480" y="3200400"/>
            <a:ext cx="502920" cy="502920"/>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6</a:t>
            </a:r>
          </a:p>
        </p:txBody>
      </p:sp>
      <p:sp>
        <p:nvSpPr>
          <p:cNvPr id="18" name="Rounded Rectangle 17"/>
          <p:cNvSpPr/>
          <p:nvPr/>
        </p:nvSpPr>
        <p:spPr>
          <a:xfrm>
            <a:off x="6748272" y="3154680"/>
            <a:ext cx="1828800" cy="5943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F172A"/>
                </a:solidFill>
                <a:latin typeface="Calibri"/>
              </a:defRPr>
            </a:pPr>
            <a:r>
              <a:rPr sz="700" b="1">
                <a:solidFill>
                  <a:srgbClr val="12233B"/>
                </a:solidFill>
              </a:rPr>
              <a:t>Institutional</a:t>
            </a:r>
          </a:p>
          <a:p>
            <a:pPr algn="ctr"/>
            <a:r>
              <a:rPr sz="700" b="1">
                <a:solidFill>
                  <a:srgbClr val="12233B"/>
                </a:solidFill>
              </a:rPr>
              <a:t>Dashboard</a:t>
            </a:r>
          </a:p>
        </p:txBody>
      </p:sp>
      <p:sp>
        <p:nvSpPr>
          <p:cNvPr id="19" name="TextBox 18"/>
          <p:cNvSpPr txBox="1"/>
          <p:nvPr/>
        </p:nvSpPr>
        <p:spPr>
          <a:xfrm>
            <a:off x="502920" y="4511889"/>
            <a:ext cx="8138160" cy="1400383"/>
          </a:xfrm>
          <a:prstGeom prst="rect">
            <a:avLst/>
          </a:prstGeom>
          <a:noFill/>
        </p:spPr>
        <p:txBody>
          <a:bodyPr wrap="square" anchor="ctr">
            <a:spAutoFit/>
          </a:bodyPr>
          <a:lstStyle/>
          <a:p>
            <a:pPr algn="just">
              <a:defRPr sz="1300" b="0">
                <a:solidFill>
                  <a:srgbClr val="0F172A"/>
                </a:solidFill>
                <a:latin typeface="Calibri"/>
              </a:defRPr>
            </a:pPr>
            <a:r>
              <a:rPr sz="2400"/>
              <a:t>All modules were validated using row counts, missing-value checks, relationship checks, SQL read-back validation and cross-verification between Python, SQL and Power BI.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RESULTS AND DISCUSSIONS</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10</a:t>
            </a:r>
            <a:endParaRPr lang="en-US" dirty="0"/>
          </a:p>
        </p:txBody>
      </p:sp>
      <p:sp>
        <p:nvSpPr>
          <p:cNvPr id="4" name="Content Placeholder 3"/>
          <p:cNvSpPr>
            <a:spLocks noGrp="1"/>
          </p:cNvSpPr>
          <p:nvPr>
            <p:ph idx="1"/>
          </p:nvPr>
        </p:nvSpPr>
        <p:spPr>
          <a:xfrm>
            <a:off x="411480" y="1417320"/>
            <a:ext cx="8321040" cy="4754880"/>
          </a:xfrm>
        </p:spPr>
        <p:txBody>
          <a:bodyPr lIns="45720" rIns="45720" anchor="t"/>
          <a:lstStyle/>
          <a:p>
            <a:pPr marL="0" indent="0" algn="l">
              <a:spcAft>
                <a:spcPts val="800"/>
              </a:spcAft>
              <a:buNone/>
            </a:pPr>
            <a:endParaRPr lang="en-US" dirty="0"/>
          </a:p>
          <a:p>
            <a:pPr marL="0" indent="0" algn="l">
              <a:spcAft>
                <a:spcPts val="800"/>
              </a:spcAft>
              <a:buNone/>
            </a:pPr>
            <a:endParaRPr lang="en-US" dirty="0"/>
          </a:p>
        </p:txBody>
      </p:sp>
      <p:sp>
        <p:nvSpPr>
          <p:cNvPr id="7" name="Rounded Rectangle 6"/>
          <p:cNvSpPr/>
          <p:nvPr/>
        </p:nvSpPr>
        <p:spPr>
          <a:xfrm>
            <a:off x="5029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rPr sz="700" b="0">
                <a:solidFill>
                  <a:srgbClr val="12233B"/>
                </a:solidFill>
              </a:rPr>
              <a:t>Students</a:t>
            </a:r>
          </a:p>
          <a:p>
            <a:pPr algn="ctr"/>
            <a:r>
              <a:rPr sz="1100" b="1">
                <a:solidFill>
                  <a:srgbClr val="12233B"/>
                </a:solidFill>
              </a:rPr>
              <a:t>500</a:t>
            </a:r>
          </a:p>
        </p:txBody>
      </p:sp>
      <p:sp>
        <p:nvSpPr>
          <p:cNvPr id="8" name="Rounded Rectangle 7"/>
          <p:cNvSpPr/>
          <p:nvPr/>
        </p:nvSpPr>
        <p:spPr>
          <a:xfrm>
            <a:off x="1874519"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rPr sz="700" b="0">
                <a:solidFill>
                  <a:srgbClr val="12233B"/>
                </a:solidFill>
              </a:rPr>
              <a:t>Pass %</a:t>
            </a:r>
          </a:p>
          <a:p>
            <a:pPr algn="ctr"/>
            <a:r>
              <a:rPr sz="1100" b="1">
                <a:solidFill>
                  <a:srgbClr val="12233B"/>
                </a:solidFill>
              </a:rPr>
              <a:t>88.31%</a:t>
            </a:r>
          </a:p>
        </p:txBody>
      </p:sp>
      <p:sp>
        <p:nvSpPr>
          <p:cNvPr id="9" name="Rounded Rectangle 8"/>
          <p:cNvSpPr/>
          <p:nvPr/>
        </p:nvSpPr>
        <p:spPr>
          <a:xfrm>
            <a:off x="32461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rPr sz="700" b="0">
                <a:solidFill>
                  <a:srgbClr val="12233B"/>
                </a:solidFill>
              </a:rPr>
              <a:t>Avg Risk</a:t>
            </a:r>
          </a:p>
          <a:p>
            <a:pPr algn="ctr"/>
            <a:r>
              <a:rPr sz="1100" b="1">
                <a:solidFill>
                  <a:srgbClr val="12233B"/>
                </a:solidFill>
              </a:rPr>
              <a:t>20.82</a:t>
            </a:r>
          </a:p>
        </p:txBody>
      </p:sp>
      <p:sp>
        <p:nvSpPr>
          <p:cNvPr id="10" name="Rounded Rectangle 9"/>
          <p:cNvSpPr/>
          <p:nvPr/>
        </p:nvSpPr>
        <p:spPr>
          <a:xfrm>
            <a:off x="46177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rPr sz="700" b="0">
                <a:solidFill>
                  <a:srgbClr val="12233B"/>
                </a:solidFill>
              </a:rPr>
              <a:t>High Risk</a:t>
            </a:r>
          </a:p>
          <a:p>
            <a:pPr algn="ctr"/>
            <a:r>
              <a:rPr sz="1100" b="1">
                <a:solidFill>
                  <a:srgbClr val="12233B"/>
                </a:solidFill>
              </a:rPr>
              <a:t>29</a:t>
            </a:r>
          </a:p>
        </p:txBody>
      </p:sp>
      <p:sp>
        <p:nvSpPr>
          <p:cNvPr id="11" name="Rounded Rectangle 10"/>
          <p:cNvSpPr/>
          <p:nvPr/>
        </p:nvSpPr>
        <p:spPr>
          <a:xfrm>
            <a:off x="59893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rPr sz="700" b="0">
                <a:solidFill>
                  <a:srgbClr val="12233B"/>
                </a:solidFill>
              </a:rPr>
              <a:t>Priority Support</a:t>
            </a:r>
          </a:p>
          <a:p>
            <a:pPr algn="ctr"/>
            <a:r>
              <a:rPr sz="1100" b="1">
                <a:solidFill>
                  <a:srgbClr val="12233B"/>
                </a:solidFill>
              </a:rPr>
              <a:t>150</a:t>
            </a:r>
          </a:p>
        </p:txBody>
      </p:sp>
      <p:sp>
        <p:nvSpPr>
          <p:cNvPr id="12" name="Rounded Rectangle 11"/>
          <p:cNvSpPr/>
          <p:nvPr/>
        </p:nvSpPr>
        <p:spPr>
          <a:xfrm>
            <a:off x="7360920" y="1508760"/>
            <a:ext cx="1216152" cy="594360"/>
          </a:xfrm>
          <a:prstGeom prst="roundRect">
            <a:avLst/>
          </a:prstGeom>
          <a:solidFill>
            <a:srgbClr val="FFFFFF"/>
          </a:solidFill>
          <a:ln w="19050">
            <a:solidFill>
              <a:srgbClr val="8FA1B5"/>
            </a:solidFill>
          </a:ln>
        </p:spPr>
        <p:style>
          <a:lnRef idx="1">
            <a:schemeClr val="accent1"/>
          </a:lnRef>
          <a:fillRef idx="3">
            <a:schemeClr val="accent1"/>
          </a:fillRef>
          <a:effectRef idx="2">
            <a:schemeClr val="accent1"/>
          </a:effectRef>
          <a:fontRef idx="minor">
            <a:schemeClr val="lt1"/>
          </a:fontRef>
        </p:style>
        <p:txBody>
          <a:bodyPr lIns="109728" tIns="54864" rIns="73152" rtlCol="0" anchor="ctr"/>
          <a:lstStyle/>
          <a:p>
            <a:pPr algn="ctr">
              <a:defRPr sz="1000">
                <a:solidFill>
                  <a:srgbClr val="475569"/>
                </a:solidFill>
                <a:latin typeface="Calibri"/>
              </a:defRPr>
            </a:pPr>
            <a:r>
              <a:rPr sz="700" b="0">
                <a:solidFill>
                  <a:srgbClr val="12233B"/>
                </a:solidFill>
              </a:rPr>
              <a:t>Health Index</a:t>
            </a:r>
          </a:p>
          <a:p>
            <a:pPr algn="ctr"/>
            <a:r>
              <a:rPr sz="1100" b="1">
                <a:solidFill>
                  <a:srgbClr val="12233B"/>
                </a:solidFill>
              </a:rPr>
              <a:t>72.13</a:t>
            </a:r>
          </a:p>
        </p:txBody>
      </p:sp>
      <p:sp>
        <p:nvSpPr>
          <p:cNvPr id="13" name="Rectangle 12"/>
          <p:cNvSpPr/>
          <p:nvPr/>
        </p:nvSpPr>
        <p:spPr>
          <a:xfrm>
            <a:off x="502920" y="2331720"/>
            <a:ext cx="2514600" cy="2560320"/>
          </a:xfrm>
          <a:prstGeom prst="rect">
            <a:avLst/>
          </a:prstGeom>
          <a:solidFill>
            <a:srgbClr val="FFFFFF"/>
          </a:solidFill>
          <a:ln w="12700">
            <a:solidFill>
              <a:srgbClr val="8FA1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377439"/>
            <a:ext cx="2240280" cy="228600"/>
          </a:xfrm>
          <a:prstGeom prst="rect">
            <a:avLst/>
          </a:prstGeom>
          <a:noFill/>
        </p:spPr>
        <p:txBody>
          <a:bodyPr wrap="none" anchor="ctr">
            <a:spAutoFit/>
          </a:bodyPr>
          <a:lstStyle/>
          <a:p>
            <a:pPr algn="ctr">
              <a:defRPr sz="1100" b="1">
                <a:solidFill>
                  <a:srgbClr val="0F172A"/>
                </a:solidFill>
                <a:latin typeface="Calibri"/>
              </a:defRPr>
            </a:pPr>
            <a:r>
              <a:rPr sz="800" b="1">
                <a:solidFill>
                  <a:srgbClr val="12233B"/>
                </a:solidFill>
              </a:rPr>
              <a:t>Dept. Average Score</a:t>
            </a:r>
          </a:p>
        </p:txBody>
      </p:sp>
      <p:cxnSp>
        <p:nvCxnSpPr>
          <p:cNvPr id="15" name="Connector 14"/>
          <p:cNvCxnSpPr/>
          <p:nvPr/>
        </p:nvCxnSpPr>
        <p:spPr>
          <a:xfrm>
            <a:off x="822960" y="4526279"/>
            <a:ext cx="1874519" cy="0"/>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14400" y="3004931"/>
            <a:ext cx="165398" cy="15213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571999"/>
            <a:ext cx="256838" cy="182880"/>
          </a:xfrm>
          <a:prstGeom prst="rect">
            <a:avLst/>
          </a:prstGeom>
          <a:noFill/>
        </p:spPr>
        <p:txBody>
          <a:bodyPr wrap="none" anchor="ctr">
            <a:spAutoFit/>
          </a:bodyPr>
          <a:lstStyle/>
          <a:p>
            <a:pPr algn="ctr">
              <a:defRPr sz="800" b="0">
                <a:solidFill>
                  <a:srgbClr val="475569"/>
                </a:solidFill>
                <a:latin typeface="Calibri"/>
              </a:defRPr>
            </a:pPr>
            <a:r>
              <a:t>EEE</a:t>
            </a:r>
          </a:p>
        </p:txBody>
      </p:sp>
      <p:sp>
        <p:nvSpPr>
          <p:cNvPr id="18" name="Rectangle 17"/>
          <p:cNvSpPr/>
          <p:nvPr/>
        </p:nvSpPr>
        <p:spPr>
          <a:xfrm>
            <a:off x="1300330" y="3007412"/>
            <a:ext cx="165398" cy="1518867"/>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54610" y="4571999"/>
            <a:ext cx="256838" cy="182880"/>
          </a:xfrm>
          <a:prstGeom prst="rect">
            <a:avLst/>
          </a:prstGeom>
          <a:noFill/>
        </p:spPr>
        <p:txBody>
          <a:bodyPr wrap="none" anchor="ctr">
            <a:spAutoFit/>
          </a:bodyPr>
          <a:lstStyle/>
          <a:p>
            <a:pPr algn="ctr">
              <a:defRPr sz="800" b="0">
                <a:solidFill>
                  <a:srgbClr val="475569"/>
                </a:solidFill>
                <a:latin typeface="Calibri"/>
              </a:defRPr>
            </a:pPr>
            <a:r>
              <a:t>IT</a:t>
            </a:r>
          </a:p>
        </p:txBody>
      </p:sp>
      <p:sp>
        <p:nvSpPr>
          <p:cNvPr id="20" name="Rectangle 19"/>
          <p:cNvSpPr/>
          <p:nvPr/>
        </p:nvSpPr>
        <p:spPr>
          <a:xfrm>
            <a:off x="1686261" y="3009442"/>
            <a:ext cx="165398" cy="1516837"/>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40541" y="4571999"/>
            <a:ext cx="256838" cy="182880"/>
          </a:xfrm>
          <a:prstGeom prst="rect">
            <a:avLst/>
          </a:prstGeom>
          <a:noFill/>
        </p:spPr>
        <p:txBody>
          <a:bodyPr wrap="none" anchor="ctr">
            <a:spAutoFit/>
          </a:bodyPr>
          <a:lstStyle/>
          <a:p>
            <a:pPr algn="ctr">
              <a:defRPr sz="800" b="0">
                <a:solidFill>
                  <a:srgbClr val="475569"/>
                </a:solidFill>
                <a:latin typeface="Calibri"/>
              </a:defRPr>
            </a:pPr>
            <a:r>
              <a:t>ECE</a:t>
            </a:r>
          </a:p>
        </p:txBody>
      </p:sp>
      <p:sp>
        <p:nvSpPr>
          <p:cNvPr id="22" name="Rectangle 21"/>
          <p:cNvSpPr/>
          <p:nvPr/>
        </p:nvSpPr>
        <p:spPr>
          <a:xfrm>
            <a:off x="2072191" y="3020043"/>
            <a:ext cx="165398" cy="1506236"/>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26471" y="4571999"/>
            <a:ext cx="256838" cy="182880"/>
          </a:xfrm>
          <a:prstGeom prst="rect">
            <a:avLst/>
          </a:prstGeom>
          <a:noFill/>
        </p:spPr>
        <p:txBody>
          <a:bodyPr wrap="none" anchor="ctr">
            <a:spAutoFit/>
          </a:bodyPr>
          <a:lstStyle/>
          <a:p>
            <a:pPr algn="ctr">
              <a:defRPr sz="800" b="0">
                <a:solidFill>
                  <a:srgbClr val="475569"/>
                </a:solidFill>
                <a:latin typeface="Calibri"/>
              </a:defRPr>
            </a:pPr>
            <a:r>
              <a:t>CSE</a:t>
            </a:r>
          </a:p>
        </p:txBody>
      </p:sp>
      <p:sp>
        <p:nvSpPr>
          <p:cNvPr id="24" name="Rectangle 23"/>
          <p:cNvSpPr/>
          <p:nvPr/>
        </p:nvSpPr>
        <p:spPr>
          <a:xfrm>
            <a:off x="2458122" y="3023652"/>
            <a:ext cx="165398" cy="1502627"/>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12402" y="4571999"/>
            <a:ext cx="256838" cy="182880"/>
          </a:xfrm>
          <a:prstGeom prst="rect">
            <a:avLst/>
          </a:prstGeom>
          <a:noFill/>
        </p:spPr>
        <p:txBody>
          <a:bodyPr wrap="none" anchor="ctr">
            <a:spAutoFit/>
          </a:bodyPr>
          <a:lstStyle/>
          <a:p>
            <a:pPr algn="ctr">
              <a:defRPr sz="800" b="0">
                <a:solidFill>
                  <a:srgbClr val="475569"/>
                </a:solidFill>
                <a:latin typeface="Calibri"/>
              </a:defRPr>
            </a:pPr>
            <a:r>
              <a:t>MECH</a:t>
            </a:r>
          </a:p>
        </p:txBody>
      </p:sp>
      <p:sp>
        <p:nvSpPr>
          <p:cNvPr id="26" name="Rectangle 25"/>
          <p:cNvSpPr/>
          <p:nvPr/>
        </p:nvSpPr>
        <p:spPr>
          <a:xfrm>
            <a:off x="3337560" y="2331720"/>
            <a:ext cx="2514600" cy="2560320"/>
          </a:xfrm>
          <a:prstGeom prst="rect">
            <a:avLst/>
          </a:prstGeom>
          <a:solidFill>
            <a:srgbClr val="FFFFFF"/>
          </a:solidFill>
          <a:ln w="12700">
            <a:solidFill>
              <a:srgbClr val="8FA1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0" y="2377439"/>
            <a:ext cx="2240280" cy="228600"/>
          </a:xfrm>
          <a:prstGeom prst="rect">
            <a:avLst/>
          </a:prstGeom>
          <a:noFill/>
        </p:spPr>
        <p:txBody>
          <a:bodyPr wrap="none" anchor="ctr">
            <a:spAutoFit/>
          </a:bodyPr>
          <a:lstStyle/>
          <a:p>
            <a:pPr algn="ctr">
              <a:defRPr sz="1100" b="1">
                <a:solidFill>
                  <a:srgbClr val="0F172A"/>
                </a:solidFill>
                <a:latin typeface="Calibri"/>
              </a:defRPr>
            </a:pPr>
            <a:r>
              <a:rPr sz="800" b="1">
                <a:solidFill>
                  <a:srgbClr val="12233B"/>
                </a:solidFill>
              </a:rPr>
              <a:t>Semester Score Trend</a:t>
            </a:r>
          </a:p>
        </p:txBody>
      </p:sp>
      <p:cxnSp>
        <p:nvCxnSpPr>
          <p:cNvPr id="28" name="Connector 27"/>
          <p:cNvCxnSpPr/>
          <p:nvPr/>
        </p:nvCxnSpPr>
        <p:spPr>
          <a:xfrm>
            <a:off x="3657600" y="4526279"/>
            <a:ext cx="1874520" cy="0"/>
          </a:xfrm>
          <a:prstGeom prst="line">
            <a:avLst/>
          </a:prstGeom>
          <a:ln w="12700">
            <a:solidFill>
              <a:srgbClr val="9CA3A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657600" y="2997037"/>
            <a:ext cx="267788" cy="487192"/>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925388" y="2997037"/>
            <a:ext cx="267789" cy="811987"/>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193177" y="3565428"/>
            <a:ext cx="267788" cy="243596"/>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60965" y="3565428"/>
            <a:ext cx="267789" cy="744322"/>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28754" y="4309750"/>
            <a:ext cx="267788" cy="27066"/>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996542" y="3639860"/>
            <a:ext cx="267789" cy="696956"/>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264331" y="3639860"/>
            <a:ext cx="267789" cy="534558"/>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3625596" y="3452225"/>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11880" y="4571999"/>
            <a:ext cx="91440" cy="182880"/>
          </a:xfrm>
          <a:prstGeom prst="rect">
            <a:avLst/>
          </a:prstGeom>
          <a:noFill/>
        </p:spPr>
        <p:txBody>
          <a:bodyPr wrap="none" anchor="ctr">
            <a:spAutoFit/>
          </a:bodyPr>
          <a:lstStyle/>
          <a:p>
            <a:pPr algn="ctr">
              <a:defRPr sz="800" b="0">
                <a:solidFill>
                  <a:srgbClr val="475569"/>
                </a:solidFill>
                <a:latin typeface="Calibri"/>
              </a:defRPr>
            </a:pPr>
            <a:r>
              <a:t>1</a:t>
            </a:r>
          </a:p>
        </p:txBody>
      </p:sp>
      <p:sp>
        <p:nvSpPr>
          <p:cNvPr id="38" name="Oval 37"/>
          <p:cNvSpPr/>
          <p:nvPr/>
        </p:nvSpPr>
        <p:spPr>
          <a:xfrm>
            <a:off x="3893384" y="2965033"/>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79668" y="4571999"/>
            <a:ext cx="91440" cy="182880"/>
          </a:xfrm>
          <a:prstGeom prst="rect">
            <a:avLst/>
          </a:prstGeom>
          <a:noFill/>
        </p:spPr>
        <p:txBody>
          <a:bodyPr wrap="none" anchor="ctr">
            <a:spAutoFit/>
          </a:bodyPr>
          <a:lstStyle/>
          <a:p>
            <a:pPr algn="ctr">
              <a:defRPr sz="800" b="0">
                <a:solidFill>
                  <a:srgbClr val="475569"/>
                </a:solidFill>
                <a:latin typeface="Calibri"/>
              </a:defRPr>
            </a:pPr>
            <a:r>
              <a:t>2</a:t>
            </a:r>
          </a:p>
        </p:txBody>
      </p:sp>
      <p:sp>
        <p:nvSpPr>
          <p:cNvPr id="40" name="Oval 39"/>
          <p:cNvSpPr/>
          <p:nvPr/>
        </p:nvSpPr>
        <p:spPr>
          <a:xfrm>
            <a:off x="4161173" y="3777020"/>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147457" y="4571999"/>
            <a:ext cx="91440" cy="182880"/>
          </a:xfrm>
          <a:prstGeom prst="rect">
            <a:avLst/>
          </a:prstGeom>
          <a:noFill/>
        </p:spPr>
        <p:txBody>
          <a:bodyPr wrap="none" anchor="ctr">
            <a:spAutoFit/>
          </a:bodyPr>
          <a:lstStyle/>
          <a:p>
            <a:pPr algn="ctr">
              <a:defRPr sz="800" b="0">
                <a:solidFill>
                  <a:srgbClr val="475569"/>
                </a:solidFill>
                <a:latin typeface="Calibri"/>
              </a:defRPr>
            </a:pPr>
            <a:r>
              <a:t>3</a:t>
            </a:r>
          </a:p>
        </p:txBody>
      </p:sp>
      <p:sp>
        <p:nvSpPr>
          <p:cNvPr id="42" name="Oval 41"/>
          <p:cNvSpPr/>
          <p:nvPr/>
        </p:nvSpPr>
        <p:spPr>
          <a:xfrm>
            <a:off x="4428961" y="3533424"/>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15245" y="4571999"/>
            <a:ext cx="91440" cy="182880"/>
          </a:xfrm>
          <a:prstGeom prst="rect">
            <a:avLst/>
          </a:prstGeom>
          <a:noFill/>
        </p:spPr>
        <p:txBody>
          <a:bodyPr wrap="none" anchor="ctr">
            <a:spAutoFit/>
          </a:bodyPr>
          <a:lstStyle/>
          <a:p>
            <a:pPr algn="ctr">
              <a:defRPr sz="800" b="0">
                <a:solidFill>
                  <a:srgbClr val="475569"/>
                </a:solidFill>
                <a:latin typeface="Calibri"/>
              </a:defRPr>
            </a:pPr>
            <a:r>
              <a:t>4</a:t>
            </a:r>
          </a:p>
        </p:txBody>
      </p:sp>
      <p:sp>
        <p:nvSpPr>
          <p:cNvPr id="44" name="Oval 43"/>
          <p:cNvSpPr/>
          <p:nvPr/>
        </p:nvSpPr>
        <p:spPr>
          <a:xfrm>
            <a:off x="4696750" y="4277746"/>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83034" y="4571999"/>
            <a:ext cx="91440" cy="182880"/>
          </a:xfrm>
          <a:prstGeom prst="rect">
            <a:avLst/>
          </a:prstGeom>
          <a:noFill/>
        </p:spPr>
        <p:txBody>
          <a:bodyPr wrap="none" anchor="ctr">
            <a:spAutoFit/>
          </a:bodyPr>
          <a:lstStyle/>
          <a:p>
            <a:pPr algn="ctr">
              <a:defRPr sz="800" b="0">
                <a:solidFill>
                  <a:srgbClr val="475569"/>
                </a:solidFill>
                <a:latin typeface="Calibri"/>
              </a:defRPr>
            </a:pPr>
            <a:r>
              <a:t>5</a:t>
            </a:r>
          </a:p>
        </p:txBody>
      </p:sp>
      <p:sp>
        <p:nvSpPr>
          <p:cNvPr id="46" name="Oval 45"/>
          <p:cNvSpPr/>
          <p:nvPr/>
        </p:nvSpPr>
        <p:spPr>
          <a:xfrm>
            <a:off x="4964538" y="4304812"/>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50822" y="4571999"/>
            <a:ext cx="91440" cy="182880"/>
          </a:xfrm>
          <a:prstGeom prst="rect">
            <a:avLst/>
          </a:prstGeom>
          <a:noFill/>
        </p:spPr>
        <p:txBody>
          <a:bodyPr wrap="none" anchor="ctr">
            <a:spAutoFit/>
          </a:bodyPr>
          <a:lstStyle/>
          <a:p>
            <a:pPr algn="ctr">
              <a:defRPr sz="800" b="0">
                <a:solidFill>
                  <a:srgbClr val="475569"/>
                </a:solidFill>
                <a:latin typeface="Calibri"/>
              </a:defRPr>
            </a:pPr>
            <a:r>
              <a:t>6</a:t>
            </a:r>
          </a:p>
        </p:txBody>
      </p:sp>
      <p:sp>
        <p:nvSpPr>
          <p:cNvPr id="48" name="Oval 47"/>
          <p:cNvSpPr/>
          <p:nvPr/>
        </p:nvSpPr>
        <p:spPr>
          <a:xfrm>
            <a:off x="5232327" y="3607856"/>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18611" y="4571999"/>
            <a:ext cx="91440" cy="182880"/>
          </a:xfrm>
          <a:prstGeom prst="rect">
            <a:avLst/>
          </a:prstGeom>
          <a:noFill/>
        </p:spPr>
        <p:txBody>
          <a:bodyPr wrap="none" anchor="ctr">
            <a:spAutoFit/>
          </a:bodyPr>
          <a:lstStyle/>
          <a:p>
            <a:pPr algn="ctr">
              <a:defRPr sz="800" b="0">
                <a:solidFill>
                  <a:srgbClr val="475569"/>
                </a:solidFill>
                <a:latin typeface="Calibri"/>
              </a:defRPr>
            </a:pPr>
            <a:r>
              <a:t>7</a:t>
            </a:r>
          </a:p>
        </p:txBody>
      </p:sp>
      <p:sp>
        <p:nvSpPr>
          <p:cNvPr id="50" name="Oval 49"/>
          <p:cNvSpPr/>
          <p:nvPr/>
        </p:nvSpPr>
        <p:spPr>
          <a:xfrm>
            <a:off x="5500116" y="4142414"/>
            <a:ext cx="64008" cy="64008"/>
          </a:xfrm>
          <a:prstGeom prst="ellipse">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86400" y="4571999"/>
            <a:ext cx="91440" cy="182880"/>
          </a:xfrm>
          <a:prstGeom prst="rect">
            <a:avLst/>
          </a:prstGeom>
          <a:noFill/>
        </p:spPr>
        <p:txBody>
          <a:bodyPr wrap="none" anchor="ctr">
            <a:spAutoFit/>
          </a:bodyPr>
          <a:lstStyle/>
          <a:p>
            <a:pPr algn="ctr">
              <a:defRPr sz="800" b="0">
                <a:solidFill>
                  <a:srgbClr val="475569"/>
                </a:solidFill>
                <a:latin typeface="Calibri"/>
              </a:defRPr>
            </a:pPr>
            <a:r>
              <a:t>8</a:t>
            </a:r>
          </a:p>
        </p:txBody>
      </p:sp>
      <p:sp>
        <p:nvSpPr>
          <p:cNvPr id="52" name="Rectangle 51"/>
          <p:cNvSpPr/>
          <p:nvPr/>
        </p:nvSpPr>
        <p:spPr>
          <a:xfrm>
            <a:off x="6172200" y="2331720"/>
            <a:ext cx="2423160" cy="2560320"/>
          </a:xfrm>
          <a:prstGeom prst="rect">
            <a:avLst/>
          </a:prstGeom>
          <a:solidFill>
            <a:srgbClr val="FFFFFF"/>
          </a:solidFill>
          <a:ln w="12700">
            <a:solidFill>
              <a:srgbClr val="8FA1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09360" y="2377439"/>
            <a:ext cx="2148840" cy="228600"/>
          </a:xfrm>
          <a:prstGeom prst="rect">
            <a:avLst/>
          </a:prstGeom>
          <a:noFill/>
        </p:spPr>
        <p:txBody>
          <a:bodyPr wrap="none" anchor="ctr">
            <a:spAutoFit/>
          </a:bodyPr>
          <a:lstStyle/>
          <a:p>
            <a:pPr algn="ctr">
              <a:defRPr sz="1100" b="1">
                <a:solidFill>
                  <a:srgbClr val="0F172A"/>
                </a:solidFill>
                <a:latin typeface="Calibri"/>
              </a:defRPr>
            </a:pPr>
            <a:r>
              <a:rPr sz="800" b="1">
                <a:solidFill>
                  <a:srgbClr val="12233B"/>
                </a:solidFill>
              </a:rPr>
              <a:t>Pass / Fail Distribution</a:t>
            </a:r>
          </a:p>
        </p:txBody>
      </p:sp>
      <p:graphicFrame>
        <p:nvGraphicFramePr>
          <p:cNvPr id="54" name="Chart 53"/>
          <p:cNvGraphicFramePr>
            <a:graphicFrameLocks noGrp="1"/>
          </p:cNvGraphicFramePr>
          <p:nvPr>
            <p:extLst>
              <p:ext uri="{D42A27DB-BD31-4B8C-83A1-F6EECF244321}">
                <p14:modId xmlns:p14="http://schemas.microsoft.com/office/powerpoint/2010/main" val="3960482603"/>
              </p:ext>
            </p:extLst>
          </p:nvPr>
        </p:nvGraphicFramePr>
        <p:xfrm>
          <a:off x="6324600" y="2834639"/>
          <a:ext cx="2082020" cy="1828799"/>
        </p:xfrm>
        <a:graphic>
          <a:graphicData uri="http://schemas.openxmlformats.org/drawingml/2006/chart">
            <c:chart xmlns:c="http://schemas.openxmlformats.org/drawingml/2006/chart" xmlns:r="http://schemas.openxmlformats.org/officeDocument/2006/relationships" r:id="rId2"/>
          </a:graphicData>
        </a:graphic>
      </p:graphicFrame>
      <p:sp>
        <p:nvSpPr>
          <p:cNvPr id="55" name="TextBox 54"/>
          <p:cNvSpPr txBox="1"/>
          <p:nvPr/>
        </p:nvSpPr>
        <p:spPr>
          <a:xfrm>
            <a:off x="7223760" y="4434840"/>
            <a:ext cx="868680" cy="164592"/>
          </a:xfrm>
          <a:prstGeom prst="rect">
            <a:avLst/>
          </a:prstGeom>
          <a:noFill/>
        </p:spPr>
        <p:txBody>
          <a:bodyPr wrap="none" anchor="ctr">
            <a:spAutoFit/>
          </a:bodyPr>
          <a:lstStyle/>
          <a:p>
            <a:pPr algn="l">
              <a:defRPr sz="800" b="1">
                <a:solidFill>
                  <a:srgbClr val="1D4ED8"/>
                </a:solidFill>
                <a:latin typeface="Calibri"/>
              </a:defRPr>
            </a:pPr>
            <a:r>
              <a:rPr sz="700" b="0">
                <a:solidFill>
                  <a:srgbClr val="12233B"/>
                </a:solidFill>
              </a:rPr>
              <a:t>Pass: 88.31%</a:t>
            </a:r>
          </a:p>
        </p:txBody>
      </p:sp>
      <p:sp>
        <p:nvSpPr>
          <p:cNvPr id="56" name="TextBox 55"/>
          <p:cNvSpPr txBox="1"/>
          <p:nvPr/>
        </p:nvSpPr>
        <p:spPr>
          <a:xfrm>
            <a:off x="7223760" y="4617720"/>
            <a:ext cx="868680" cy="164592"/>
          </a:xfrm>
          <a:prstGeom prst="rect">
            <a:avLst/>
          </a:prstGeom>
          <a:noFill/>
        </p:spPr>
        <p:txBody>
          <a:bodyPr wrap="none" anchor="ctr">
            <a:spAutoFit/>
          </a:bodyPr>
          <a:lstStyle/>
          <a:p>
            <a:pPr algn="l">
              <a:defRPr sz="800" b="1">
                <a:solidFill>
                  <a:srgbClr val="DC2626"/>
                </a:solidFill>
                <a:latin typeface="Calibri"/>
              </a:defRPr>
            </a:pPr>
            <a:r>
              <a:rPr sz="700" b="0">
                <a:solidFill>
                  <a:srgbClr val="12233B"/>
                </a:solidFill>
              </a:rPr>
              <a:t>Fail: 11.69%</a:t>
            </a:r>
          </a:p>
        </p:txBody>
      </p:sp>
      <p:sp>
        <p:nvSpPr>
          <p:cNvPr id="57" name="TextBox 56"/>
          <p:cNvSpPr txBox="1"/>
          <p:nvPr/>
        </p:nvSpPr>
        <p:spPr>
          <a:xfrm>
            <a:off x="594360" y="5074920"/>
            <a:ext cx="7955279" cy="411480"/>
          </a:xfrm>
          <a:prstGeom prst="rect">
            <a:avLst/>
          </a:prstGeom>
          <a:noFill/>
        </p:spPr>
        <p:txBody>
          <a:bodyPr wrap="none" anchor="ctr">
            <a:spAutoFit/>
          </a:bodyPr>
          <a:lstStyle/>
          <a:p>
            <a:pPr algn="l">
              <a:defRPr sz="1200" b="1">
                <a:solidFill>
                  <a:srgbClr val="0F7678"/>
                </a:solidFill>
                <a:latin typeface="Calibri"/>
              </a:defRPr>
            </a:pPr>
            <a:r>
              <a:rPr sz="800" b="1">
                <a:solidFill>
                  <a:srgbClr val="00809B"/>
                </a:solidFill>
              </a:rPr>
              <a:t>Key finding: The final model moved beyond descriptive KPIs by identifying 29 high-risk students, 107 silent strugglers, 150 priority interventions and 139 target achievements.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CONCLUSION</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11</a:t>
            </a:r>
            <a:endParaRPr lang="en-US" dirty="0"/>
          </a:p>
        </p:txBody>
      </p:sp>
      <p:sp>
        <p:nvSpPr>
          <p:cNvPr id="4" name="Content Placeholder 3"/>
          <p:cNvSpPr>
            <a:spLocks noGrp="1"/>
          </p:cNvSpPr>
          <p:nvPr>
            <p:ph idx="1"/>
          </p:nvPr>
        </p:nvSpPr>
        <p:spPr>
          <a:xfrm>
            <a:off x="502920" y="1463040"/>
            <a:ext cx="4572000" cy="4297680"/>
          </a:xfrm>
        </p:spPr>
        <p:txBody>
          <a:bodyPr lIns="45720" rIns="45720" anchor="ctr">
            <a:normAutofit/>
          </a:bodyPr>
          <a:lstStyle/>
          <a:p>
            <a:pPr algn="l">
              <a:buChar char="•"/>
              <a:defRPr sz="1700">
                <a:solidFill>
                  <a:srgbClr val="000000"/>
                </a:solidFill>
                <a:latin typeface="Calibri"/>
              </a:defRPr>
            </a:pPr>
            <a:r>
              <a:rPr sz="2000"/>
              <a:t>The project transforms 16,000 academic records into validated student, subject and institutional intelligence.</a:t>
            </a:r>
            <a:endParaRPr lang="en-US" sz="2000" dirty="0"/>
          </a:p>
          <a:p>
            <a:pPr algn="l"/>
            <a:r>
              <a:rPr sz="2000"/>
              <a:t>Python, SQL and Power BI were integrated into a complete analytics and validation workflow.</a:t>
            </a:r>
          </a:p>
          <a:p>
            <a:pPr algn="l"/>
            <a:r>
              <a:rPr sz="2000"/>
              <a:t>Risk scoring, digital twin simulation and intervention planning support early identification and recovery actions.</a:t>
            </a:r>
          </a:p>
          <a:p>
            <a:pPr algn="l"/>
            <a:r>
              <a:rPr sz="2000"/>
              <a:t>Power BI dashboards provide Academic Overview, Risk &amp; Early Warning and Intervention &amp; Recovery views for decision-making.</a:t>
            </a:r>
          </a:p>
        </p:txBody>
      </p:sp>
      <p:sp>
        <p:nvSpPr>
          <p:cNvPr id="7" name="Rounded Rectangle 6"/>
          <p:cNvSpPr/>
          <p:nvPr/>
        </p:nvSpPr>
        <p:spPr>
          <a:xfrm>
            <a:off x="5532120" y="1691640"/>
            <a:ext cx="2560320" cy="548640"/>
          </a:xfrm>
          <a:prstGeom prst="roundRect">
            <a:avLst/>
          </a:prstGeom>
          <a:solidFill>
            <a:srgbClr val="DBEA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Validated Data</a:t>
            </a:r>
          </a:p>
        </p:txBody>
      </p:sp>
      <p:sp>
        <p:nvSpPr>
          <p:cNvPr id="8" name="Rounded Rectangle 7"/>
          <p:cNvSpPr/>
          <p:nvPr/>
        </p:nvSpPr>
        <p:spPr>
          <a:xfrm>
            <a:off x="5532120" y="2606040"/>
            <a:ext cx="2560320" cy="54864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Early Warning</a:t>
            </a:r>
          </a:p>
        </p:txBody>
      </p:sp>
      <p:sp>
        <p:nvSpPr>
          <p:cNvPr id="9" name="Rounded Rectangle 8"/>
          <p:cNvSpPr/>
          <p:nvPr/>
        </p:nvSpPr>
        <p:spPr>
          <a:xfrm>
            <a:off x="5532120" y="3520440"/>
            <a:ext cx="2560320" cy="54864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Recovery Support</a:t>
            </a:r>
          </a:p>
        </p:txBody>
      </p:sp>
      <p:sp>
        <p:nvSpPr>
          <p:cNvPr id="10" name="Rounded Rectangle 9"/>
          <p:cNvSpPr/>
          <p:nvPr/>
        </p:nvSpPr>
        <p:spPr>
          <a:xfrm>
            <a:off x="5532120" y="4434840"/>
            <a:ext cx="2560320" cy="548640"/>
          </a:xfrm>
          <a:prstGeom prst="roundRect">
            <a:avLst/>
          </a:prstGeom>
          <a:solidFill>
            <a:srgbClr val="E0F2FE"/>
          </a:solidFill>
          <a:ln w="19050">
            <a:solidFill>
              <a:srgbClr val="0F7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172A"/>
                </a:solidFill>
                <a:latin typeface="Calibri"/>
              </a:defRPr>
            </a:pPr>
            <a:r>
              <a:rPr sz="900" b="1">
                <a:solidFill>
                  <a:srgbClr val="12233B"/>
                </a:solidFill>
              </a:rPr>
              <a:t>Decision Dashboard</a:t>
            </a:r>
          </a:p>
        </p:txBody>
      </p:sp>
      <p:cxnSp>
        <p:nvCxnSpPr>
          <p:cNvPr id="11" name="Connector 10"/>
          <p:cNvCxnSpPr/>
          <p:nvPr/>
        </p:nvCxnSpPr>
        <p:spPr>
          <a:xfrm>
            <a:off x="6812280" y="2240280"/>
            <a:ext cx="0" cy="32004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12280" y="3154680"/>
            <a:ext cx="0" cy="32004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12280" y="4069080"/>
            <a:ext cx="0" cy="320040"/>
          </a:xfrm>
          <a:prstGeom prst="line">
            <a:avLst/>
          </a:prstGeom>
          <a:ln w="25400">
            <a:solidFill>
              <a:srgbClr val="16A34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Calibri"/>
              </a:rPr>
              <a:t>REFERENCES</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12</a:t>
            </a:r>
            <a:endParaRPr lang="en-US" dirty="0"/>
          </a:p>
        </p:txBody>
      </p:sp>
      <p:sp>
        <p:nvSpPr>
          <p:cNvPr id="4" name="Content Placeholder 3"/>
          <p:cNvSpPr>
            <a:spLocks noGrp="1"/>
          </p:cNvSpPr>
          <p:nvPr>
            <p:ph idx="1"/>
          </p:nvPr>
        </p:nvSpPr>
        <p:spPr>
          <a:xfrm>
            <a:off x="502920" y="1463040"/>
            <a:ext cx="8046720" cy="4754880"/>
          </a:xfrm>
        </p:spPr>
        <p:txBody>
          <a:bodyPr anchor="t">
            <a:normAutofit/>
          </a:bodyPr>
          <a:lstStyle/>
          <a:p>
            <a:pPr algn="l">
              <a:spcAft>
                <a:spcPts val="800"/>
              </a:spcAft>
              <a:defRPr sz="1400">
                <a:solidFill>
                  <a:srgbClr val="000000"/>
                </a:solidFill>
                <a:latin typeface="Calibri"/>
              </a:defRPr>
            </a:pPr>
            <a:r>
              <a:rPr sz="2000" dirty="0"/>
              <a:t>[1] Alberto Ferrari and Marco Russo, Analyzing Data with Power BI and Power Pivot for Excel, Microsoft Press, 2017.</a:t>
            </a:r>
            <a:endParaRPr lang="en-US" sz="2000" dirty="0"/>
          </a:p>
          <a:p>
            <a:pPr>
              <a:spcAft>
                <a:spcPts val="800"/>
              </a:spcAft>
              <a:defRPr sz="1400">
                <a:solidFill>
                  <a:srgbClr val="000000"/>
                </a:solidFill>
                <a:latin typeface="Calibri"/>
              </a:defRPr>
            </a:pPr>
            <a:r>
              <a:rPr sz="2000" dirty="0"/>
              <a:t>[2] Wes McKinney, Python for Data Analysis: Data Wrangling with pandas, NumPy, and Jupyter, 3rd Edition, O’Reilly Media, 2022.</a:t>
            </a:r>
          </a:p>
          <a:p>
            <a:pPr>
              <a:spcAft>
                <a:spcPts val="800"/>
              </a:spcAft>
              <a:defRPr sz="1400">
                <a:solidFill>
                  <a:srgbClr val="000000"/>
                </a:solidFill>
                <a:latin typeface="Calibri"/>
              </a:defRPr>
            </a:pPr>
            <a:r>
              <a:rPr sz="2000" dirty="0"/>
              <a:t>[3] Abraham Silberschatz, Henry F. Korth and S. Sudarshan, Database System Concepts, 7th Edition, McGraw-Hill Education, 2019.</a:t>
            </a:r>
          </a:p>
          <a:p>
            <a:pPr>
              <a:spcAft>
                <a:spcPts val="800"/>
              </a:spcAft>
              <a:defRPr sz="1400">
                <a:solidFill>
                  <a:srgbClr val="000000"/>
                </a:solidFill>
                <a:latin typeface="Calibri"/>
              </a:defRPr>
            </a:pPr>
            <a:r>
              <a:rPr sz="2000" dirty="0"/>
              <a:t>[4] Claus O. Wilke, Fundamentals of Data Visualization: A Primer on Making Informative and Compelling Figures, O’Reilly Media, 2019.</a:t>
            </a:r>
          </a:p>
          <a:p>
            <a:pPr>
              <a:spcAft>
                <a:spcPts val="800"/>
              </a:spcAft>
              <a:defRPr sz="1400">
                <a:solidFill>
                  <a:srgbClr val="000000"/>
                </a:solidFill>
                <a:latin typeface="Calibri"/>
              </a:defRPr>
            </a:pPr>
            <a:r>
              <a:rPr sz="2000" dirty="0"/>
              <a:t>[5] Foster Provost and Tom Fawcett, Data Science for Business: What You Need to Know about Data Mining and Data-Analytic Thinking, O’Reilly Media, 2013.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pPr algn="ctr"/>
            <a:r>
              <a:rPr sz="3400">
                <a:solidFill>
                  <a:srgbClr val="000000"/>
                </a:solidFill>
                <a:latin typeface="Arial"/>
              </a:rPr>
              <a:t>THANK YOU</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pPr algn="ctr"/>
            <a:r>
              <a:rPr sz="1000">
                <a:solidFill>
                  <a:srgbClr val="808080"/>
                </a:solidFill>
                <a:latin typeface="Arial"/>
              </a:rPr>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pPr algn="r"/>
            <a:r>
              <a:rPr sz="1000">
                <a:solidFill>
                  <a:srgbClr val="808080"/>
                </a:solidFill>
                <a:latin typeface="Arial"/>
              </a:rPr>
              <a:t>13</a:t>
            </a:r>
            <a:endParaRPr lang="en-US" dirty="0"/>
          </a:p>
        </p:txBody>
      </p:sp>
      <p:sp>
        <p:nvSpPr>
          <p:cNvPr id="4" name="Content Placeholder 3"/>
          <p:cNvSpPr>
            <a:spLocks noGrp="1"/>
          </p:cNvSpPr>
          <p:nvPr>
            <p:ph idx="1"/>
          </p:nvPr>
        </p:nvSpPr>
        <p:spPr>
          <a:xfrm>
            <a:off x="457200" y="2255837"/>
            <a:ext cx="8229600" cy="4525963"/>
          </a:xfrm>
        </p:spPr>
        <p:txBody>
          <a:bodyPr/>
          <a:lstStyle/>
          <a:p>
            <a:pPr marL="0" indent="0" algn="just">
              <a:buNone/>
            </a:pPr>
            <a:r>
              <a:rPr lang="en-US" dirty="0">
                <a:solidFill>
                  <a:srgbClr val="000000"/>
                </a:solidFill>
                <a:latin typeface="Arial"/>
              </a:rPr>
              <a:t>We thank God, Our Department, Guides, Panel Members, Supportive Professors and all Technical and Non-Technical staff who helped us in our Project.</a:t>
            </a:r>
          </a:p>
          <a:p>
            <a:pPr marL="0" indent="0">
              <a:buNone/>
            </a:pPr>
            <a:endParaRPr lang="en-US"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6250</TotalTime>
  <Words>850</Words>
  <Application>Microsoft Office PowerPoint</Application>
  <PresentationFormat>On-screen Show (4:3)</PresentationFormat>
  <Paragraphs>165</Paragraphs>
  <Slides>13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Custom Design</vt:lpstr>
      <vt:lpstr>  </vt:lpstr>
      <vt:lpstr>AGENDA</vt:lpstr>
      <vt:lpstr>COURSE CERTIFICATE - 1</vt:lpstr>
      <vt:lpstr>COURSE CERTIFICATE - 2</vt:lpstr>
      <vt:lpstr>ABSTRACT</vt:lpstr>
      <vt:lpstr>INTRODUCTION</vt:lpstr>
      <vt:lpstr>OBJECTIVE</vt:lpstr>
      <vt:lpstr>SYSTEM ARCHITECTURE / IDEATION MAP</vt:lpstr>
      <vt:lpstr>MODULE IMPLEMENTATION</vt:lpstr>
      <vt:lpstr>RESULTS AND DISCUSSIONS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RAKSHANA FATHIMA HASAN</cp:lastModifiedBy>
  <cp:revision>123</cp:revision>
  <dcterms:created xsi:type="dcterms:W3CDTF">2019-11-06T07:48:53Z</dcterms:created>
  <dcterms:modified xsi:type="dcterms:W3CDTF">2026-09-28T17:24:32Z</dcterms:modified>
</cp:coreProperties>
</file>